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8d4c40e4d0476f" /><Relationship Type="http://schemas.openxmlformats.org/officeDocument/2006/relationships/extended-properties" Target="/docProps/app.xml" Id="Rf932228f52964be5" /><Relationship Type="http://schemas.openxmlformats.org/officeDocument/2006/relationships/officeDocument" Target="/ppt/presentation.xml" Id="R16fe4ab66b9146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a7cf31a3664f22"/>
  </p:sldMasterIdLst>
  <p:notesMasterIdLst>
    <p:notesMasterId xmlns:r="http://schemas.openxmlformats.org/officeDocument/2006/relationships" r:id="R859dd1666f504f14"/>
  </p:notesMasterIdLst>
  <p:sldIdLst>
    <p:sldId xmlns:r="http://schemas.openxmlformats.org/officeDocument/2006/relationships" id="256" r:id="Ra7e450567d834828"/>
    <p:sldId xmlns:r="http://schemas.openxmlformats.org/officeDocument/2006/relationships" id="257" r:id="Rb1b0c7928b3b4f98"/>
    <p:sldId xmlns:r="http://schemas.openxmlformats.org/officeDocument/2006/relationships" id="258" r:id="Raf9c0d4a276c4ebb"/>
    <p:sldId xmlns:r="http://schemas.openxmlformats.org/officeDocument/2006/relationships" id="259" r:id="Reb5a04e8bd8748ac"/>
    <p:sldId xmlns:r="http://schemas.openxmlformats.org/officeDocument/2006/relationships" id="260" r:id="R4186a4a0aeca465f"/>
    <p:sldId xmlns:r="http://schemas.openxmlformats.org/officeDocument/2006/relationships" id="261" r:id="Re525d645a1064a5c"/>
    <p:sldId xmlns:r="http://schemas.openxmlformats.org/officeDocument/2006/relationships" id="262" r:id="Rf86c82c7a80249f1"/>
    <p:sldId xmlns:r="http://schemas.openxmlformats.org/officeDocument/2006/relationships" id="263" r:id="Rc1f13bdccb904e64"/>
    <p:sldId xmlns:r="http://schemas.openxmlformats.org/officeDocument/2006/relationships" id="264" r:id="R795a06fbba564327"/>
    <p:sldId xmlns:r="http://schemas.openxmlformats.org/officeDocument/2006/relationships" id="265" r:id="R61818a9f67dd4e51"/>
    <p:sldId xmlns:r="http://schemas.openxmlformats.org/officeDocument/2006/relationships" id="266" r:id="Rae7067fe70574697"/>
    <p:sldId xmlns:r="http://schemas.openxmlformats.org/officeDocument/2006/relationships" id="267" r:id="R2e0ee65af80048ac"/>
    <p:sldId xmlns:r="http://schemas.openxmlformats.org/officeDocument/2006/relationships" id="268" r:id="R26981316f4644f47"/>
    <p:sldId xmlns:r="http://schemas.openxmlformats.org/officeDocument/2006/relationships" id="269" r:id="R2b0eaaf0c5704813"/>
    <p:sldId xmlns:r="http://schemas.openxmlformats.org/officeDocument/2006/relationships" id="270" r:id="R1a31112dcbab4af7"/>
    <p:sldId xmlns:r="http://schemas.openxmlformats.org/officeDocument/2006/relationships" id="271" r:id="R45bca5f860a243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e59641b72d466b" /><Relationship Type="http://schemas.openxmlformats.org/officeDocument/2006/relationships/slideMaster" Target="/ppt/slideMasters/slideMaster1.xml" Id="R8ca7cf31a3664f22" /><Relationship Type="http://schemas.openxmlformats.org/officeDocument/2006/relationships/notesMaster" Target="/ppt/notesMasters/notesMaster1.xml" Id="R859dd1666f504f14" /><Relationship Type="http://schemas.openxmlformats.org/officeDocument/2006/relationships/presProps" Target="/ppt/presProps.xml" Id="R9c8a7c0bd1a349f7" /><Relationship Type="http://schemas.openxmlformats.org/officeDocument/2006/relationships/tableStyles" Target="/ppt/tableStyles.xml" Id="Rdefcc9708c3d47ab" /><Relationship Type="http://schemas.openxmlformats.org/officeDocument/2006/relationships/slide" Target="/ppt/slides/slide1.xml" Id="Ra7e450567d834828" /><Relationship Type="http://schemas.openxmlformats.org/officeDocument/2006/relationships/slide" Target="/ppt/slides/slide2.xml" Id="Rb1b0c7928b3b4f98" /><Relationship Type="http://schemas.openxmlformats.org/officeDocument/2006/relationships/slide" Target="/ppt/slides/slide3.xml" Id="Raf9c0d4a276c4ebb" /><Relationship Type="http://schemas.openxmlformats.org/officeDocument/2006/relationships/slide" Target="/ppt/slides/slide4.xml" Id="Reb5a04e8bd8748ac" /><Relationship Type="http://schemas.openxmlformats.org/officeDocument/2006/relationships/slide" Target="/ppt/slides/slide5.xml" Id="R4186a4a0aeca465f" /><Relationship Type="http://schemas.openxmlformats.org/officeDocument/2006/relationships/slide" Target="/ppt/slides/slide6.xml" Id="Re525d645a1064a5c" /><Relationship Type="http://schemas.openxmlformats.org/officeDocument/2006/relationships/slide" Target="/ppt/slides/slide7.xml" Id="Rf86c82c7a80249f1" /><Relationship Type="http://schemas.openxmlformats.org/officeDocument/2006/relationships/slide" Target="/ppt/slides/slide8.xml" Id="Rc1f13bdccb904e64" /><Relationship Type="http://schemas.openxmlformats.org/officeDocument/2006/relationships/slide" Target="/ppt/slides/slide9.xml" Id="R795a06fbba564327" /><Relationship Type="http://schemas.openxmlformats.org/officeDocument/2006/relationships/slide" Target="/ppt/slides/slide10.xml" Id="R61818a9f67dd4e51" /><Relationship Type="http://schemas.openxmlformats.org/officeDocument/2006/relationships/slide" Target="/ppt/slides/slide11.xml" Id="Rae7067fe70574697" /><Relationship Type="http://schemas.openxmlformats.org/officeDocument/2006/relationships/slide" Target="/ppt/slides/slide12.xml" Id="R2e0ee65af80048ac" /><Relationship Type="http://schemas.openxmlformats.org/officeDocument/2006/relationships/slide" Target="/ppt/slides/slide13.xml" Id="R26981316f4644f47" /><Relationship Type="http://schemas.openxmlformats.org/officeDocument/2006/relationships/slide" Target="/ppt/slides/slide14.xml" Id="R2b0eaaf0c5704813" /><Relationship Type="http://schemas.openxmlformats.org/officeDocument/2006/relationships/slide" Target="/ppt/slides/slide15.xml" Id="R1a31112dcbab4af7" /><Relationship Type="http://schemas.openxmlformats.org/officeDocument/2006/relationships/slide" Target="/ppt/slides/slide16.xml" Id="R45bca5f860a243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167d0f270844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8155b4e08844fb" /><Relationship Type="http://schemas.openxmlformats.org/officeDocument/2006/relationships/notesMaster" Target="/ppt/notesMasters/notesMaster1.xml" Id="R7f9d556201a547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dd88c91a074f7a" /><Relationship Type="http://schemas.openxmlformats.org/officeDocument/2006/relationships/notesMaster" Target="/ppt/notesMasters/notesMaster1.xml" Id="R9db7a16ab9c04f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14a2a6e4164e0d" /><Relationship Type="http://schemas.openxmlformats.org/officeDocument/2006/relationships/notesMaster" Target="/ppt/notesMasters/notesMaster1.xml" Id="R864dc8a66b0b42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d164b2080f4c27" /><Relationship Type="http://schemas.openxmlformats.org/officeDocument/2006/relationships/notesMaster" Target="/ppt/notesMasters/notesMaster1.xml" Id="Rc8c575c6771d46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e56339a5c14e3b" /><Relationship Type="http://schemas.openxmlformats.org/officeDocument/2006/relationships/notesMaster" Target="/ppt/notesMasters/notesMaster1.xml" Id="R55265d3bb73c46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a093dd51654f07" /><Relationship Type="http://schemas.openxmlformats.org/officeDocument/2006/relationships/notesMaster" Target="/ppt/notesMasters/notesMaster1.xml" Id="Ra1d2773baad444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4a8dc3ce424315" /><Relationship Type="http://schemas.openxmlformats.org/officeDocument/2006/relationships/notesMaster" Target="/ppt/notesMasters/notesMaster1.xml" Id="R39292f1b9e4b40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fe10e4e7bd4b96" /><Relationship Type="http://schemas.openxmlformats.org/officeDocument/2006/relationships/notesMaster" Target="/ppt/notesMasters/notesMaster1.xml" Id="Rc6ca240a16ac48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f884e9f2d44d79" /><Relationship Type="http://schemas.openxmlformats.org/officeDocument/2006/relationships/notesMaster" Target="/ppt/notesMasters/notesMaster1.xml" Id="Ra64fd60796ec45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0000bd8aed4988" /><Relationship Type="http://schemas.openxmlformats.org/officeDocument/2006/relationships/notesMaster" Target="/ppt/notesMasters/notesMaster1.xml" Id="R7817adbc3fc341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86ab15917441f7" /><Relationship Type="http://schemas.openxmlformats.org/officeDocument/2006/relationships/notesMaster" Target="/ppt/notesMasters/notesMaster1.xml" Id="R362dfe6c189f4d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b2b694b4fb46d5" /><Relationship Type="http://schemas.openxmlformats.org/officeDocument/2006/relationships/notesMaster" Target="/ppt/notesMasters/notesMaster1.xml" Id="R949ddb96419646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04856671e9435b" /><Relationship Type="http://schemas.openxmlformats.org/officeDocument/2006/relationships/notesMaster" Target="/ppt/notesMasters/notesMaster1.xml" Id="Rf12b4f731fa04d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deb95040064a20" /><Relationship Type="http://schemas.openxmlformats.org/officeDocument/2006/relationships/notesMaster" Target="/ppt/notesMasters/notesMaster1.xml" Id="R7ddf6888e68241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30ba968a9d452c" /><Relationship Type="http://schemas.openxmlformats.org/officeDocument/2006/relationships/notesMaster" Target="/ppt/notesMasters/notesMaster1.xml" Id="R3f83208b8426436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d1aa19565c4ba7" /><Relationship Type="http://schemas.openxmlformats.org/officeDocument/2006/relationships/notesMaster" Target="/ppt/notesMasters/notesMaster1.xml" Id="R7f906dc4d5194e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https://peps.python.org/pep-0484/</a:t>
            </a:r>
          </a:p>
          <a:p xmlns:a="http://schemas.openxmlformats.org/drawingml/2006/main">
            <a:r>
              <a:t>https://pydantic.dev/docs/validation/latest/get-started/</a:t>
            </a:r>
          </a:p>
          <a:p xmlns:a="http://schemas.openxmlformats.org/drawingml/2006/main">
            <a:r>
              <a:t>Imagen: https://www.python.org/community/logos/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https://peps.python.org/pep-0001/</a:t>
            </a:r>
          </a:p>
          <a:p xmlns:a="http://schemas.openxmlformats.org/drawingml/2006/main">
            <a:r>
              <a:t>Captura de PEP 484: https://peps.python.org/pep-0484/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https://peps.python.org/pep-3107/</a:t>
            </a:r>
          </a:p>
          <a:p xmlns:a="http://schemas.openxmlformats.org/drawingml/2006/main">
            <a:r>
              <a:t>https://peps.python.org/pep-0484/</a:t>
            </a:r>
          </a:p>
          <a:p xmlns:a="http://schemas.openxmlformats.org/drawingml/2006/main">
            <a:r>
              <a:t>https://peps.python.org/pep-0526/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https://peps.python.org/pep-0585/</a:t>
            </a:r>
          </a:p>
          <a:p xmlns:a="http://schemas.openxmlformats.org/drawingml/2006/main">
            <a:r>
              <a:t>https://peps.python.org/pep-0604/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https://peps.python.org/pep-0484/</a:t>
            </a:r>
          </a:p>
          <a:p xmlns:a="http://schemas.openxmlformats.org/drawingml/2006/main">
            <a:r>
              <a:t>https://peps.python.org/pep-0526/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https://peps.python.org/pep-0484/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https://mypy.readthedocs.io/en/stable/</a:t>
            </a:r>
          </a:p>
          <a:p xmlns:a="http://schemas.openxmlformats.org/drawingml/2006/main">
            <a:r>
              <a:t>https://peps.python.org/pep-0484/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https://github.com/ArjanCodes/examples/blob/main/2025/typehints/generic_return.py</a:t>
            </a:r>
          </a:p>
          <a:p xmlns:a="http://schemas.openxmlformats.org/drawingml/2006/main">
            <a:r>
              <a:t>Video de referencia: https://www.youtube.com/watch?v=0oBLMwHdZ2Y</a:t>
            </a:r>
          </a:p>
          <a:p xmlns:a="http://schemas.openxmlformats.org/drawingml/2006/main">
            <a:r>
              <a:t>Miniatura: https://i.ytimg.com/vi/0oBLMwHdZ2Y/hqdefault.jpg</a:t>
            </a:r>
          </a:p>
          <a:p xmlns:a="http://schemas.openxmlformats.org/drawingml/2006/main">
            <a:r>
              <a:t>Código adaptado de ArjanCodes. Copyright (c) 2023 ArjanCodes. MIT. Véase ARJANCODES_LICENSE.txt.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MIT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Copyright (c) 2023 ArjanCodes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Permission is hereby granted, free of charge, to any person obtaining a copy</a:t>
            </a:r>
          </a:p>
          <a:p xmlns:a="http://schemas.openxmlformats.org/drawingml/2006/main">
            <a:r>
              <a:t>of this software and associated documentation files (the "Software"), to deal</a:t>
            </a:r>
          </a:p>
          <a:p xmlns:a="http://schemas.openxmlformats.org/drawingml/2006/main">
            <a:r>
              <a:t>in the Software without restriction, including without limitation the rights</a:t>
            </a:r>
          </a:p>
          <a:p xmlns:a="http://schemas.openxmlformats.org/drawingml/2006/main">
            <a:r>
              <a:t>to use, copy, modify, merge, publish, distribute, sublicense, and/or sell</a:t>
            </a:r>
          </a:p>
          <a:p xmlns:a="http://schemas.openxmlformats.org/drawingml/2006/main">
            <a:r>
              <a:t>copies of the Software, and to permit persons to whom the Software is</a:t>
            </a:r>
          </a:p>
          <a:p xmlns:a="http://schemas.openxmlformats.org/drawingml/2006/main">
            <a:r>
              <a:t>furnished to do so, subject to the following conditions: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above copyright notice and this permission notice shall be included in all</a:t>
            </a:r>
          </a:p>
          <a:p xmlns:a="http://schemas.openxmlformats.org/drawingml/2006/main">
            <a:r>
              <a:t>copies or substantial portions of the Software.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IS PROVIDED "AS IS", WITHOUT WARRANTY OF ANY KIND, EXPRESS OR</a:t>
            </a:r>
          </a:p>
          <a:p xmlns:a="http://schemas.openxmlformats.org/drawingml/2006/main">
            <a:r>
              <a:t>IMPLIED, INCLUDING BUT NOT LIMITED TO THE WARRANTIES OF MERCHANTABILITY,</a:t>
            </a:r>
          </a:p>
          <a:p xmlns:a="http://schemas.openxmlformats.org/drawingml/2006/main">
            <a:r>
              <a:t>FITNESS FOR A PARTICULAR PURPOSE AND NONINFRINGEMENT. IN NO EVENT SHALL THE</a:t>
            </a:r>
          </a:p>
          <a:p xmlns:a="http://schemas.openxmlformats.org/drawingml/2006/main">
            <a:r>
              <a:t>AUTHORS OR COPYRIGHT HOLDERS BE LIABLE FOR ANY CLAIM, DAMAGES OR OTHER</a:t>
            </a:r>
          </a:p>
          <a:p xmlns:a="http://schemas.openxmlformats.org/drawingml/2006/main">
            <a:r>
              <a:t>LIABILITY, WHETHER IN AN ACTION OF CONTRACT, TORT OR OTHERWISE, ARISING FROM,</a:t>
            </a:r>
          </a:p>
          <a:p xmlns:a="http://schemas.openxmlformats.org/drawingml/2006/main">
            <a:r>
              <a:t>OUT OF OR IN CONNECTION WITH THE SOFTWARE OR THE USE OR OTHER DEALINGS IN THE</a:t>
            </a:r>
          </a:p>
          <a:p xmlns:a="http://schemas.openxmlformats.org/drawingml/2006/main">
            <a:r>
              <a:t>SOFTWARE.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https://github.com/ArjanCodes/examples/blob/main/2025/typehints/generic_return.py</a:t>
            </a:r>
          </a:p>
          <a:p xmlns:a="http://schemas.openxmlformats.org/drawingml/2006/main">
            <a:r>
              <a:t>Código adaptado de ArjanCodes, MIT. Véase ARJANCODES_LICENSE.txt.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MIT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Copyright (c) 2023 ArjanCodes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Permission is hereby granted, free of charge, to any person obtaining a copy</a:t>
            </a:r>
          </a:p>
          <a:p xmlns:a="http://schemas.openxmlformats.org/drawingml/2006/main">
            <a:r>
              <a:t>of this software and associated documentation files (the "Software"), to deal</a:t>
            </a:r>
          </a:p>
          <a:p xmlns:a="http://schemas.openxmlformats.org/drawingml/2006/main">
            <a:r>
              <a:t>in the Software without restriction, including without limitation the rights</a:t>
            </a:r>
          </a:p>
          <a:p xmlns:a="http://schemas.openxmlformats.org/drawingml/2006/main">
            <a:r>
              <a:t>to use, copy, modify, merge, publish, distribute, sublicense, and/or sell</a:t>
            </a:r>
          </a:p>
          <a:p xmlns:a="http://schemas.openxmlformats.org/drawingml/2006/main">
            <a:r>
              <a:t>copies of the Software, and to permit persons to whom the Software is</a:t>
            </a:r>
          </a:p>
          <a:p xmlns:a="http://schemas.openxmlformats.org/drawingml/2006/main">
            <a:r>
              <a:t>furnished to do so, subject to the following conditions: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above copyright notice and this permission notice shall be included in all</a:t>
            </a:r>
          </a:p>
          <a:p xmlns:a="http://schemas.openxmlformats.org/drawingml/2006/main">
            <a:r>
              <a:t>copies or substantial portions of the Software.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IS PROVIDED "AS IS", WITHOUT WARRANTY OF ANY KIND, EXPRESS OR</a:t>
            </a:r>
          </a:p>
          <a:p xmlns:a="http://schemas.openxmlformats.org/drawingml/2006/main">
            <a:r>
              <a:t>IMPLIED, INCLUDING BUT NOT LIMITED TO THE WARRANTIES OF MERCHANTABILITY,</a:t>
            </a:r>
          </a:p>
          <a:p xmlns:a="http://schemas.openxmlformats.org/drawingml/2006/main">
            <a:r>
              <a:t>FITNESS FOR A PARTICULAR PURPOSE AND NONINFRINGEMENT. IN NO EVENT SHALL THE</a:t>
            </a:r>
          </a:p>
          <a:p xmlns:a="http://schemas.openxmlformats.org/drawingml/2006/main">
            <a:r>
              <a:t>AUTHORS OR COPYRIGHT HOLDERS BE LIABLE FOR ANY CLAIM, DAMAGES OR OTHER</a:t>
            </a:r>
          </a:p>
          <a:p xmlns:a="http://schemas.openxmlformats.org/drawingml/2006/main">
            <a:r>
              <a:t>LIABILITY, WHETHER IN AN ACTION OF CONTRACT, TORT OR OTHERWISE, ARISING FROM,</a:t>
            </a:r>
          </a:p>
          <a:p xmlns:a="http://schemas.openxmlformats.org/drawingml/2006/main">
            <a:r>
              <a:t>OUT OF OR IN CONNECTION WITH THE SOFTWARE OR THE USE OR OTHER DEALINGS IN THE</a:t>
            </a:r>
          </a:p>
          <a:p xmlns:a="http://schemas.openxmlformats.org/drawingml/2006/main">
            <a:r>
              <a:t>SOFTWARE.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https://pydantic.dev/docs/validation/latest/get-started/</a:t>
            </a:r>
          </a:p>
          <a:p xmlns:a="http://schemas.openxmlformats.org/drawingml/2006/main">
            <a:r>
              <a:t>Captura: https://pydantic.dev/docs/validation/latest/get-started/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https://docs.pydantic.dev/latest/concepts/models/</a:t>
            </a:r>
          </a:p>
          <a:p xmlns:a="http://schemas.openxmlformats.org/drawingml/2006/main">
            <a:r>
              <a:t>https://pydantic.dev/docs/validation/latest/get-started/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https://docs.pydantic.dev/latest/concepts/fields/</a:t>
            </a:r>
          </a:p>
          <a:p xmlns:a="http://schemas.openxmlformats.org/drawingml/2006/main">
            <a:r>
              <a:t>https://docs.pydantic.dev/latest/concepts/models/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https://github.com/ArjanCodes/examples/blob/main/2024/pydantic_refresh/example.py</a:t>
            </a:r>
          </a:p>
          <a:p xmlns:a="http://schemas.openxmlformats.org/drawingml/2006/main">
            <a:r>
              <a:t>Video de referencia: https://www.youtube.com/watch?v=502XOB0u8OY</a:t>
            </a:r>
          </a:p>
          <a:p xmlns:a="http://schemas.openxmlformats.org/drawingml/2006/main">
            <a:r>
              <a:t>Miniatura: https://i.ytimg.com/vi/502XOB0u8OY/hqdefault.jpg</a:t>
            </a:r>
          </a:p>
          <a:p xmlns:a="http://schemas.openxmlformats.org/drawingml/2006/main">
            <a:r>
              <a:t>Adaptación simplificada, licencia MIT. Véase ARJANCODES_LICENSE.txt.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MIT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Copyright (c) 2023 ArjanCodes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Permission is hereby granted, free of charge, to any person obtaining a copy</a:t>
            </a:r>
          </a:p>
          <a:p xmlns:a="http://schemas.openxmlformats.org/drawingml/2006/main">
            <a:r>
              <a:t>of this software and associated documentation files (the "Software"), to deal</a:t>
            </a:r>
          </a:p>
          <a:p xmlns:a="http://schemas.openxmlformats.org/drawingml/2006/main">
            <a:r>
              <a:t>in the Software without restriction, including without limitation the rights</a:t>
            </a:r>
          </a:p>
          <a:p xmlns:a="http://schemas.openxmlformats.org/drawingml/2006/main">
            <a:r>
              <a:t>to use, copy, modify, merge, publish, distribute, sublicense, and/or sell</a:t>
            </a:r>
          </a:p>
          <a:p xmlns:a="http://schemas.openxmlformats.org/drawingml/2006/main">
            <a:r>
              <a:t>copies of the Software, and to permit persons to whom the Software is</a:t>
            </a:r>
          </a:p>
          <a:p xmlns:a="http://schemas.openxmlformats.org/drawingml/2006/main">
            <a:r>
              <a:t>furnished to do so, subject to the following conditions: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above copyright notice and this permission notice shall be included in all</a:t>
            </a:r>
          </a:p>
          <a:p xmlns:a="http://schemas.openxmlformats.org/drawingml/2006/main">
            <a:r>
              <a:t>copies or substantial portions of the Software.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IS PROVIDED "AS IS", WITHOUT WARRANTY OF ANY KIND, EXPRESS OR</a:t>
            </a:r>
          </a:p>
          <a:p xmlns:a="http://schemas.openxmlformats.org/drawingml/2006/main">
            <a:r>
              <a:t>IMPLIED, INCLUDING BUT NOT LIMITED TO THE WARRANTIES OF MERCHANTABILITY,</a:t>
            </a:r>
          </a:p>
          <a:p xmlns:a="http://schemas.openxmlformats.org/drawingml/2006/main">
            <a:r>
              <a:t>FITNESS FOR A PARTICULAR PURPOSE AND NONINFRINGEMENT. IN NO EVENT SHALL THE</a:t>
            </a:r>
          </a:p>
          <a:p xmlns:a="http://schemas.openxmlformats.org/drawingml/2006/main">
            <a:r>
              <a:t>AUTHORS OR COPYRIGHT HOLDERS BE LIABLE FOR ANY CLAIM, DAMAGES OR OTHER</a:t>
            </a:r>
          </a:p>
          <a:p xmlns:a="http://schemas.openxmlformats.org/drawingml/2006/main">
            <a:r>
              <a:t>LIABILITY, WHETHER IN AN ACTION OF CONTRACT, TORT OR OTHERWISE, ARISING FROM,</a:t>
            </a:r>
          </a:p>
          <a:p xmlns:a="http://schemas.openxmlformats.org/drawingml/2006/main">
            <a:r>
              <a:t>OUT OF OR IN CONNECTION WITH THE SOFTWARE OR THE USE OR OTHER DEALINGS IN THE</a:t>
            </a:r>
          </a:p>
          <a:p xmlns:a="http://schemas.openxmlformats.org/drawingml/2006/main">
            <a:r>
              <a:t>SOFTWARE.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https://github.com/ArjanCodes/examples/blob/main/2024/pydantic_refresh/example.py</a:t>
            </a:r>
          </a:p>
          <a:p xmlns:a="http://schemas.openxmlformats.org/drawingml/2006/main">
            <a:r>
              <a:t>https://docs.pydantic.dev/latest/api/types/#pydantic.types.SecretStr</a:t>
            </a:r>
          </a:p>
          <a:p xmlns:a="http://schemas.openxmlformats.org/drawingml/2006/main">
            <a:r>
              <a:t>Adaptación de ArjanCodes, licencia MIT. Véase ARJANCODES_LICENSE.txt.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MIT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Copyright (c) 2023 ArjanCodes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Permission is hereby granted, free of charge, to any person obtaining a copy</a:t>
            </a:r>
          </a:p>
          <a:p xmlns:a="http://schemas.openxmlformats.org/drawingml/2006/main">
            <a:r>
              <a:t>of this software and associated documentation files (the "Software"), to deal</a:t>
            </a:r>
          </a:p>
          <a:p xmlns:a="http://schemas.openxmlformats.org/drawingml/2006/main">
            <a:r>
              <a:t>in the Software without restriction, including without limitation the rights</a:t>
            </a:r>
          </a:p>
          <a:p xmlns:a="http://schemas.openxmlformats.org/drawingml/2006/main">
            <a:r>
              <a:t>to use, copy, modify, merge, publish, distribute, sublicense, and/or sell</a:t>
            </a:r>
          </a:p>
          <a:p xmlns:a="http://schemas.openxmlformats.org/drawingml/2006/main">
            <a:r>
              <a:t>copies of the Software, and to permit persons to whom the Software is</a:t>
            </a:r>
          </a:p>
          <a:p xmlns:a="http://schemas.openxmlformats.org/drawingml/2006/main">
            <a:r>
              <a:t>furnished to do so, subject to the following conditions: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above copyright notice and this permission notice shall be included in all</a:t>
            </a:r>
          </a:p>
          <a:p xmlns:a="http://schemas.openxmlformats.org/drawingml/2006/main">
            <a:r>
              <a:t>copies or substantial portions of the Software.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IS PROVIDED "AS IS", WITHOUT WARRANTY OF ANY KIND, EXPRESS OR</a:t>
            </a:r>
          </a:p>
          <a:p xmlns:a="http://schemas.openxmlformats.org/drawingml/2006/main">
            <a:r>
              <a:t>IMPLIED, INCLUDING BUT NOT LIMITED TO THE WARRANTIES OF MERCHANTABILITY,</a:t>
            </a:r>
          </a:p>
          <a:p xmlns:a="http://schemas.openxmlformats.org/drawingml/2006/main">
            <a:r>
              <a:t>FITNESS FOR A PARTICULAR PURPOSE AND NONINFRINGEMENT. IN NO EVENT SHALL THE</a:t>
            </a:r>
          </a:p>
          <a:p xmlns:a="http://schemas.openxmlformats.org/drawingml/2006/main">
            <a:r>
              <a:t>AUTHORS OR COPYRIGHT HOLDERS BE LIABLE FOR ANY CLAIM, DAMAGES OR OTHER</a:t>
            </a:r>
          </a:p>
          <a:p xmlns:a="http://schemas.openxmlformats.org/drawingml/2006/main">
            <a:r>
              <a:t>LIABILITY, WHETHER IN AN ACTION OF CONTRACT, TORT OR OTHERWISE, ARISING FROM,</a:t>
            </a:r>
          </a:p>
          <a:p xmlns:a="http://schemas.openxmlformats.org/drawingml/2006/main">
            <a:r>
              <a:t>OUT OF OR IN CONNECTION WITH THE SOFTWARE OR THE USE OR OTHER DEALINGS IN THE</a:t>
            </a:r>
          </a:p>
          <a:p xmlns:a="http://schemas.openxmlformats.org/drawingml/2006/main">
            <a:r>
              <a:t>SOFTWARE.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https://docs.pydantic.dev/latest/concepts/models/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https://github.com/ArjanCodes/examples/blob/main/2025/typehints/generic_return.py</a:t>
            </a:r>
          </a:p>
          <a:p xmlns:a="http://schemas.openxmlformats.org/drawingml/2006/main">
            <a:r>
              <a:t>https://github.com/ArjanCodes/examples/blob/main/2024/pydantic_refresh/example.py</a:t>
            </a:r>
          </a:p>
          <a:p xmlns:a="http://schemas.openxmlformats.org/drawingml/2006/main">
            <a:r>
              <a:t>https://pydantic.dev/docs/validation/latest/get-started/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MIT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Copyright (c) 2023 ArjanCodes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Permission is hereby granted, free of charge, to any person obtaining a copy</a:t>
            </a:r>
          </a:p>
          <a:p xmlns:a="http://schemas.openxmlformats.org/drawingml/2006/main">
            <a:r>
              <a:t>of this software and associated documentation files (the "Software"), to deal</a:t>
            </a:r>
          </a:p>
          <a:p xmlns:a="http://schemas.openxmlformats.org/drawingml/2006/main">
            <a:r>
              <a:t>in the Software without restriction, including without limitation the rights</a:t>
            </a:r>
          </a:p>
          <a:p xmlns:a="http://schemas.openxmlformats.org/drawingml/2006/main">
            <a:r>
              <a:t>to use, copy, modify, merge, publish, distribute, sublicense, and/or sell</a:t>
            </a:r>
          </a:p>
          <a:p xmlns:a="http://schemas.openxmlformats.org/drawingml/2006/main">
            <a:r>
              <a:t>copies of the Software, and to permit persons to whom the Software is</a:t>
            </a:r>
          </a:p>
          <a:p xmlns:a="http://schemas.openxmlformats.org/drawingml/2006/main">
            <a:r>
              <a:t>furnished to do so, subject to the following conditions: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above copyright notice and this permission notice shall be included in all</a:t>
            </a:r>
          </a:p>
          <a:p xmlns:a="http://schemas.openxmlformats.org/drawingml/2006/main">
            <a:r>
              <a:t>copies or substantial portions of the Software.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SOFTWARE IS PROVIDED "AS IS", WITHOUT WARRANTY OF ANY KIND, EXPRESS OR</a:t>
            </a:r>
          </a:p>
          <a:p xmlns:a="http://schemas.openxmlformats.org/drawingml/2006/main">
            <a:r>
              <a:t>IMPLIED, INCLUDING BUT NOT LIMITED TO THE WARRANTIES OF MERCHANTABILITY,</a:t>
            </a:r>
          </a:p>
          <a:p xmlns:a="http://schemas.openxmlformats.org/drawingml/2006/main">
            <a:r>
              <a:t>FITNESS FOR A PARTICULAR PURPOSE AND NONINFRINGEMENT. IN NO EVENT SHALL THE</a:t>
            </a:r>
          </a:p>
          <a:p xmlns:a="http://schemas.openxmlformats.org/drawingml/2006/main">
            <a:r>
              <a:t>AUTHORS OR COPYRIGHT HOLDERS BE LIABLE FOR ANY CLAIM, DAMAGES OR OTHER</a:t>
            </a:r>
          </a:p>
          <a:p xmlns:a="http://schemas.openxmlformats.org/drawingml/2006/main">
            <a:r>
              <a:t>LIABILITY, WHETHER IN AN ACTION OF CONTRACT, TORT OR OTHERWISE, ARISING FROM,</a:t>
            </a:r>
          </a:p>
          <a:p xmlns:a="http://schemas.openxmlformats.org/drawingml/2006/main">
            <a:r>
              <a:t>OUT OF OR IN CONNECTION WITH THE SOFTWARE OR THE USE OR OTHER DEALINGS IN THE</a:t>
            </a:r>
          </a:p>
          <a:p xmlns:a="http://schemas.openxmlformats.org/drawingml/2006/main">
            <a:r>
              <a:t>SOFTWARE.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e6fb6e18542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f866d491d64cfb" /><Relationship Type="http://schemas.openxmlformats.org/officeDocument/2006/relationships/slideLayout" Target="/ppt/slideLayouts/slideLayout1.xml" Id="Rced73bc5e01b48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d73bc5e01b48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adf49df4a4d89" /><Relationship Type="http://schemas.openxmlformats.org/officeDocument/2006/relationships/image" Target="/ppt/media/image.png" Id="Ref7592bf5eae4bcc" /><Relationship Type="http://schemas.openxmlformats.org/officeDocument/2006/relationships/notesSlide" Target="/ppt/notesSlides/notesSlide1.xml" Id="R62bd66a1523840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bad37c0084824" /><Relationship Type="http://schemas.openxmlformats.org/officeDocument/2006/relationships/image" Target="/ppt/media/image2.png" Id="R322647ca1a2f4c6a" /><Relationship Type="http://schemas.openxmlformats.org/officeDocument/2006/relationships/notesSlide" Target="/ppt/notesSlides/notesSlide2.xml" Id="R2e0e392a90ac41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0afa76e87438b" /><Relationship Type="http://schemas.openxmlformats.org/officeDocument/2006/relationships/notesSlide" Target="/ppt/notesSlides/notesSlide3.xml" Id="R25f7d61c7cb34b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c2231c4104608" /><Relationship Type="http://schemas.openxmlformats.org/officeDocument/2006/relationships/notesSlide" Target="/ppt/notesSlides/notesSlide4.xml" Id="Ra2387806553847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388f5571844c7" /><Relationship Type="http://schemas.openxmlformats.org/officeDocument/2006/relationships/notesSlide" Target="/ppt/notesSlides/notesSlide5.xml" Id="Rc95b7a73e81347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a85b6b7fa49df" /><Relationship Type="http://schemas.openxmlformats.org/officeDocument/2006/relationships/notesSlide" Target="/ppt/notesSlides/notesSlide6.xml" Id="R2eb632ff32584c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ee27948e34a6a" /><Relationship Type="http://schemas.openxmlformats.org/officeDocument/2006/relationships/notesSlide" Target="/ppt/notesSlides/notesSlide7.xml" Id="Rfcebeb75f0d24b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35c2c11fe456f" /><Relationship Type="http://schemas.openxmlformats.org/officeDocument/2006/relationships/image" Target="/ppt/media/image.jpeg" Id="R31150adfab2845fd" /><Relationship Type="http://schemas.openxmlformats.org/officeDocument/2006/relationships/notesSlide" Target="/ppt/notesSlides/notesSlide8.xml" Id="R4ea74278e3e740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b8daafb36448c" /><Relationship Type="http://schemas.openxmlformats.org/officeDocument/2006/relationships/notesSlide" Target="/ppt/notesSlides/notesSlide9.xml" Id="Rdf118b04a2d54b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46831b29845d5" /><Relationship Type="http://schemas.openxmlformats.org/officeDocument/2006/relationships/image" Target="/ppt/media/image3.png" Id="R7d9f478317f84f1b" /><Relationship Type="http://schemas.openxmlformats.org/officeDocument/2006/relationships/notesSlide" Target="/ppt/notesSlides/notesSlide10.xml" Id="R80d03e14fd954b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d5752bbb8431a" /><Relationship Type="http://schemas.openxmlformats.org/officeDocument/2006/relationships/notesSlide" Target="/ppt/notesSlides/notesSlide11.xml" Id="R861cf27e346841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aef1e15504024" /><Relationship Type="http://schemas.openxmlformats.org/officeDocument/2006/relationships/notesSlide" Target="/ppt/notesSlides/notesSlide12.xml" Id="R2c6754f16dd44c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42c6e56be448d" /><Relationship Type="http://schemas.openxmlformats.org/officeDocument/2006/relationships/image" Target="/ppt/media/image2.jpeg" Id="R03f523270892441c" /><Relationship Type="http://schemas.openxmlformats.org/officeDocument/2006/relationships/notesSlide" Target="/ppt/notesSlides/notesSlide13.xml" Id="R58cecd8a172f44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c7e2c6cad42c2" /><Relationship Type="http://schemas.openxmlformats.org/officeDocument/2006/relationships/notesSlide" Target="/ppt/notesSlides/notesSlide14.xml" Id="R1227e2242eee44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d19bad8c241d0" /><Relationship Type="http://schemas.openxmlformats.org/officeDocument/2006/relationships/notesSlide" Target="/ppt/notesSlides/notesSlide15.xml" Id="R0cf31820cf4445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0427b31fa4269" /><Relationship Type="http://schemas.openxmlformats.org/officeDocument/2006/relationships/notesSlide" Target="/ppt/notesSlides/notesSlide16.xml" Id="R5c878109587944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FCC21-3E9C-4361-9D9A-5541CB25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Anotaciones de tipo</a:t>
            </a:r>
          </a:p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y validación de datos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52715-53DF-4B86-B840-60DCCE3F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592bf5eae4bcc"/>
          <a:stretch xmlns:a="http://schemas.openxmlformats.org/drawingml/2006/main"/>
        </p:blipFill>
        <p:spPr>
          <a:xfrm xmlns:a="http://schemas.openxmlformats.org/drawingml/2006/main">
            <a:off x="628650" y="4493768"/>
            <a:ext cx="3429000" cy="101371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DAD36-5B86-455B-BF69-BF5C24A5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PEP, mypy y Pydantic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5B371-3FF8-4E02-81E4-861EAAAD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Programación para Inteligencia Artificial</a:t>
            </a:r>
          </a:p>
        </p:txBody>
      </p:sp>
    </p:spTree>
    <p:extLst>
      <p:ext uri="{BB962C8B-B14F-4D97-AF65-F5344CB8AC3E}">
        <p14:creationId xmlns:p14="http://schemas.microsoft.com/office/powerpoint/2010/main" val="6146356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CFD58-01AA-4784-9A06-262BE9EF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Python Enhancement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B3018-6870-4F5F-8326-606BDF4B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3C268-0395-4510-BD04-7316E5A0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Una PEP documenta una propuesta de diseño, su motivación y sus decisiones técnicas.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5ECA9-6A27-41C4-B12F-55C73C7D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476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También existen PEP informativas y de proceso. Su estado indica si la propuesta sigue en discusión o ya tiene una resolución.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647ca1a2f4c6a"/>
          <a:stretch xmlns:a="http://schemas.openxmlformats.org/drawingml/2006/main"/>
        </p:blipFill>
        <p:spPr>
          <a:xfrm xmlns:a="http://schemas.openxmlformats.org/drawingml/2006/main">
            <a:off x="5524500" y="1675534"/>
            <a:ext cx="6000750" cy="436418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09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608C93-144C-4A08-92FC-65D843E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Historia de las anotaciones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62514-82CA-4E1C-8AFC-8019F473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38F50-C517-438E-92BF-0D507627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Python 3.0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0E94A-6847-4A14-A96D-0A4DFCC6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rPr>
              <a:t>PEP 3107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E4753-70C1-4DE7-AA74-ADE22BD0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30956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Sintaxis para anotar parámetros y retornos.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La propuesta deja abierta su interpretación.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B498C-5486-48C3-9101-8EEEA23E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288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Python 3.5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02593-A9F0-4C86-A207-B006FFA5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384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rPr>
              <a:t>PEP 484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273F9-79E4-4DD2-8D8B-0FDE28F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381375"/>
            <a:ext cx="30956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Convenciones de type hints para el análisis estático.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Incorpora el módulo typing.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30C57-939C-4E02-8990-87B9310C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288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Python 3.6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20EED-DC35-4B3F-9DC6-8B321137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384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B47B18"/>
                </a:solidFill>
                <a:latin typeface="Helvetica Neue"/>
                <a:ea typeface="Helvetica Neue"/>
                <a:cs typeface="Helvetica Neue"/>
              </a:rPr>
              <a:t>PEP 526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014C9-44C6-48A0-91EE-84AF4C11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81375"/>
            <a:ext cx="30956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Sintaxis para anotar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price: float = 19.5</a:t>
            </a:r>
          </a:p>
        </p:txBody>
      </p:sp>
    </p:spTree>
    <p:extLst>
      <p:ext uri="{BB962C8B-B14F-4D97-AF65-F5344CB8AC3E}">
        <p14:creationId xmlns:p14="http://schemas.microsoft.com/office/powerpoint/2010/main" val="5241615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A1556-3336-479C-8048-37C52F64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Sintaxis moderna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359B4-B499-45E7-8F33-8453B90F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AFE45-733E-4067-AA0D-BAC167FD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3C7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3C76E"/>
                </a:solidFill>
                <a:latin typeface="Helvetica Neue"/>
                <a:ea typeface="Helvetica Neue"/>
                <a:cs typeface="Helvetica Neue"/>
              </a:rPr>
              <a:t>Python 3.9 · PEP 585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74CB4-A94A-4663-B4BC-7C611AAA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list[str]        dict[str, int]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846F1-8F38-4594-A6B2-ABF46ED6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3C76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3C76E"/>
                </a:solidFill>
                <a:latin typeface="Helvetica Neue"/>
                <a:ea typeface="Helvetica Neue"/>
                <a:cs typeface="Helvetica Neue"/>
              </a:rPr>
              <a:t>Python 3.10 · PEP 604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8A308-584D-47BA-B162-C75666C6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float | None     str | int</a:t>
            </a:r>
          </a:p>
        </p:txBody>
      </p:sp>
    </p:spTree>
    <p:extLst>
      <p:ext uri="{BB962C8B-B14F-4D97-AF65-F5344CB8AC3E}">
        <p14:creationId xmlns:p14="http://schemas.microsoft.com/office/powerpoint/2010/main" val="14947944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A83F1-7216-43E5-A716-557BD4B5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Anatomía de una anotación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8CE25-C931-42BE-897D-12649D0B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5EB05-04B3-4426-BD75-5D80B49C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def greet(name: str) -&gt; str:</a:t>
            </a:r>
          </a:p>
          <a:p xmlns:a="http://schemas.openxmlformats.org/drawingml/2006/main">
            <a:pPr>
              <a:defRPr sz="315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    return f"Hello, {name}!"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B47A9-7756-43C4-87B0-18EE33A8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name: str     Tipo esperado del argumento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3594E-B18F-4FBE-9207-D0E78020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-&gt; str           Tipo declarado del retorno</a:t>
            </a:r>
          </a:p>
        </p:txBody>
      </p:sp>
    </p:spTree>
    <p:extLst>
      <p:ext uri="{BB962C8B-B14F-4D97-AF65-F5344CB8AC3E}">
        <p14:creationId xmlns:p14="http://schemas.microsoft.com/office/powerpoint/2010/main" val="8876246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5F2F0-BC35-43B3-9E6F-2D616D7C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Anotaciones y ejecución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4DC93-69AE-4289-8DB7-C95AC447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9D01E-4AB1-451A-94FE-E8023273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104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def repeat_text(text: str, times: int) -&gt; str:</a:t>
            </a:r>
          </a:p>
          <a:p xmlns:a="http://schemas.openxmlformats.org/drawingml/2006/main">
            <a:pPr>
              <a:def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return text * times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repeat_text("hi", 2)   # "hihi"</a:t>
            </a:r>
          </a:p>
          <a:p xmlns:a="http://schemas.openxmlformats.org/drawingml/2006/main">
            <a:pPr>
              <a:def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repeat_text(3, 2)      #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44DCD-BFB1-4DF8-803C-3EF3263D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Python ejecuta ambas llamadas. Las anotaciones por sí solas</a:t>
            </a:r>
          </a:p>
          <a:p xmlns:a="http://schemas.openxmlformats.org/drawingml/2006/main">
            <a:pPr>
              <a:def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no comprueban los argumentos ni convierten sus valores.</a:t>
            </a:r>
          </a:p>
        </p:txBody>
      </p:sp>
    </p:spTree>
    <p:extLst>
      <p:ext uri="{BB962C8B-B14F-4D97-AF65-F5344CB8AC3E}">
        <p14:creationId xmlns:p14="http://schemas.microsoft.com/office/powerpoint/2010/main" val="6527417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20597-B728-4F76-B51D-8467AC30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Análisis estático con mypy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420ED-C883-4E20-B496-259B5B36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FC2D5-639D-408E-9827-EB021411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mypy examina el código sin ejecutarlo y señala operaciones incompatibles con los tipos declarados.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B2221-BCA3-44BB-97D9-57F1A0DB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685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def square(value: float) -&gt; float:</a:t>
            </a:r>
          </a:p>
          <a:p xmlns:a="http://schemas.openxmlformats.org/drawingml/2006/main">
            <a:pPr>
              <a:def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    return value * value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square("3")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219C4-68CD-4A4E-989D-C928D9B4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3143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Argumento recibido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str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Tipo esperado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float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B7696-3C52-404A-9C28-550C5B92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python -m mypy example.py</a:t>
            </a:r>
          </a:p>
        </p:txBody>
      </p:sp>
    </p:spTree>
    <p:extLst>
      <p:ext uri="{BB962C8B-B14F-4D97-AF65-F5344CB8AC3E}">
        <p14:creationId xmlns:p14="http://schemas.microsoft.com/office/powerpoint/2010/main" val="3937735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B8270-9517-4635-8571-CD9AEA67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ArjanCodes: contrato de retorno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CA56C-EFED-426F-9252-3102BBBE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50adfab2845fd"/>
          <a:stretch xmlns:a="http://schemas.openxmlformats.org/drawingml/2006/main"/>
        </p:blipFill>
        <p:spPr>
          <a:xfrm xmlns:a="http://schemas.openxmlformats.org/drawingml/2006/main">
            <a:off x="609600" y="1745456"/>
            <a:ext cx="4667250" cy="350043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57482-5BBA-4686-A427-2547DA07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790700"/>
            <a:ext cx="552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calculate_discounts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49643-4988-4E24-ABD5-C941E817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47950"/>
            <a:ext cx="5524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El original anota Iterable[float], aunque devuelve una lista.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Iterable garantiza un recorrido, pero no garantiza longitud ni acceso por índice.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9903D-E94A-45F2-9D4F-34EC98D7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381625"/>
            <a:ext cx="5524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len(discounted_items)</a:t>
            </a:r>
          </a:p>
          <a:p xmlns:a="http://schemas.openxmlformats.org/drawingml/2006/main">
            <a:pPr>
              <a:def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discounted_items[0]</a:t>
            </a:r>
          </a:p>
        </p:txBody>
      </p:sp>
    </p:spTree>
    <p:extLst>
      <p:ext uri="{BB962C8B-B14F-4D97-AF65-F5344CB8AC3E}">
        <p14:creationId xmlns:p14="http://schemas.microsoft.com/office/powerpoint/2010/main" val="3359987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38DFE-714D-4783-B52C-E7189033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Un retorno que conserva la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DDEA6-E414-4973-A11E-80D9F8C5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59EC7-6EB7-4EFE-8F5C-4A8DBA2E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8585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from collections.abc import Iterable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def calculate_discounts(</a:t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items: Iterable[float], discount: float</a:t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) -&gt; list[float]:</a:t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return [item * (1 - discount) for item in items]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prices = calculate_discounts([100.0, 200.0], 0.2)</a:t>
            </a:r>
          </a:p>
          <a:p xmlns:a="http://schemas.openxmlformats.org/drawingml/2006/main">
            <a:pPr>
              <a:def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print(len(prices), prices[0])  # 2 80.0</a:t>
            </a:r>
          </a:p>
        </p:txBody>
      </p:sp>
    </p:spTree>
    <p:extLst>
      <p:ext uri="{BB962C8B-B14F-4D97-AF65-F5344CB8AC3E}">
        <p14:creationId xmlns:p14="http://schemas.microsoft.com/office/powerpoint/2010/main" val="11104835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17959-C689-4C83-8A50-E22493CC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Pydantic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579C7-C981-480C-871E-5C71D536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FB2E3-40DA-4EFC-B5E7-813255B9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4476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Biblioteca de validación de datos basada en anotaciones de tipo.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56481-AD05-4306-ABFD-84C84674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Un modelo declara los campos y sus restricciones. Al recibir datos, Pydantic crea una instancia válida o genera un ValidationError.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f478317f84f1b"/>
          <a:stretch xmlns:a="http://schemas.openxmlformats.org/drawingml/2006/main"/>
        </p:blipFill>
        <p:spPr>
          <a:xfrm xmlns:a="http://schemas.openxmlformats.org/drawingml/2006/main">
            <a:off x="5619750" y="1743508"/>
            <a:ext cx="5905500" cy="429490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2402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0EAD3-700C-42D2-ACC2-C2066098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Validación y conversión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9223A-E161-4654-AB62-5D7059BB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CCAC4-D264-4C96-A568-66D37338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8585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from pydantic import BaseModel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class Product(BaseModel):</a:t>
            </a:r>
          </a:p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    name: str</a:t>
            </a:r>
          </a:p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    price: float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product = Product(name="Notebook", price="19.5")</a:t>
            </a:r>
          </a:p>
          <a:p xmlns:a="http://schemas.openxmlformats.org/drawingml/2006/main">
            <a:pPr>
              <a:def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print(product.price)  # 19.5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A94CB-4318-4F3A-A174-B1959C39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El campo price contiene un float después de la validación.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El modo estricto permite restringir conversiones.</a:t>
            </a:r>
          </a:p>
        </p:txBody>
      </p:sp>
    </p:spTree>
    <p:extLst>
      <p:ext uri="{BB962C8B-B14F-4D97-AF65-F5344CB8AC3E}">
        <p14:creationId xmlns:p14="http://schemas.microsoft.com/office/powerpoint/2010/main" val="20398104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F40755-1EAA-4EA2-A8E1-3CAA3FC8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Restricciones y errores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8C857-E0B4-4896-9A83-12298709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CA8A7-8025-4DED-8D4E-9D427353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from pydantic import BaseModel, Field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class Product(BaseModel):</a:t>
            </a:r>
          </a:p>
          <a:p xmlns:a="http://schemas.openxmlformats.org/drawingml/2006/main">
            <a:pPr>
              <a:def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name: str</a:t>
            </a:r>
          </a:p>
          <a:p xmlns:a="http://schemas.openxmlformats.org/drawingml/2006/main">
            <a:pPr>
              <a:def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price: float = Field(gt=0)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E3BF7-6396-44C6-837A-8819748E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905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Entrada</a:t>
            </a:r>
          </a:p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price = -5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DE490-A65C-451F-BD64-49F96D32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476750"/>
            <a:ext cx="5619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Campo: price</a:t>
            </a:r>
          </a:p>
          <a:p xmlns:a="http://schemas.openxmlformats.org/drawingml/2006/main">
            <a:pPr>
              <a:def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Regla: valor mayor que cero</a:t>
            </a:r>
          </a:p>
          <a:p xmlns:a="http://schemas.openxmlformats.org/drawingml/2006/main">
            <a:pPr>
              <a:def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Resultado: ValidationError</a:t>
            </a:r>
          </a:p>
        </p:txBody>
      </p:sp>
    </p:spTree>
    <p:extLst>
      <p:ext uri="{BB962C8B-B14F-4D97-AF65-F5344CB8AC3E}">
        <p14:creationId xmlns:p14="http://schemas.microsoft.com/office/powerpoint/2010/main" val="9377969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0AA33-E196-4642-B416-B44DFC81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ArjanCodes: un modelo User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E1D4E-CE6A-43C6-980D-FA6D7BF2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523270892441c"/>
          <a:stretch xmlns:a="http://schemas.openxmlformats.org/drawingml/2006/main"/>
        </p:blipFill>
        <p:spPr>
          <a:xfrm xmlns:a="http://schemas.openxmlformats.org/drawingml/2006/main">
            <a:off x="6772275" y="1728788"/>
            <a:ext cx="4762500" cy="35718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F3398-BF00-48A2-8190-93B5B73C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5715000" cy="428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name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Nombre requerido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Formato validado con EmailStr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role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Valores permitidos y valor por defecto</a:t>
            </a:r>
          </a:p>
        </p:txBody>
      </p:sp>
    </p:spTree>
    <p:extLst>
      <p:ext uri="{BB962C8B-B14F-4D97-AF65-F5344CB8AC3E}">
        <p14:creationId xmlns:p14="http://schemas.microsoft.com/office/powerpoint/2010/main" val="10125278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C27E5-2922-46A3-A819-C64BE4E3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Campos del modelo User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D2D5D-DE5E-45D2-AA71-E2C28FCF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05956-11D8-426B-A6BA-A769A016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858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from typing import Literal</a:t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from pydantic import BaseModel, EmailStr, Field, SecretStr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class User(BaseModel):</a:t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name: str = Field(min_length=2)</a:t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email: EmailStr</a:t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password: SecretStr = Field(exclude=True)</a:t>
            </a:r>
          </a:p>
          <a:p xmlns:a="http://schemas.openxmlformats.org/drawingml/2006/main">
            <a:pPr>
              <a:def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D5E9F2"/>
                </a:solidFill>
                <a:latin typeface="Helvetica Neue"/>
                <a:ea typeface="Helvetica Neue"/>
                <a:cs typeface="Helvetica Neue"/>
              </a:rPr>
              <a:t>    role: Literal["author", "editor", "admin"] = "author"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0962A-8262-4659-93AE-7DC493EC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SecretStr oculta el valor al representarlo. No cifra la contraseña.</a:t>
            </a:r>
          </a:p>
          <a:p xmlns:a="http://schemas.openxmlformats.org/drawingml/2006/main">
            <a:pPr>
              <a:def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exclude=True la omite al serializar el modelo.</a:t>
            </a:r>
          </a:p>
        </p:txBody>
      </p:sp>
    </p:spTree>
    <p:extLst>
      <p:ext uri="{BB962C8B-B14F-4D97-AF65-F5344CB8AC3E}">
        <p14:creationId xmlns:p14="http://schemas.microsoft.com/office/powerpoint/2010/main" val="3367962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8ABDB-8608-4632-9D04-3C8EC43D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Serialización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AD767-DEAE-4846-B700-8B321C80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371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69470-5248-40BF-AEA0-34B87528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Instancia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F07B6-F084-431B-9A57-5ABC5E2F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user.name</a:t>
            </a:r>
          </a:p>
          <a:p xmlns:a="http://schemas.openxmlformats.org/drawingml/2006/main">
            <a:pPr>
              <a:def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user.email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DBC8B9-8435-47A4-AA0B-117C4EDC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7430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Diccionario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40AFE-F69A-4397-8A88-EBEC9251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38425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user.model_dump()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43067-1149-498E-9207-DBACE69A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1480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B3A"/>
                </a:solidFill>
                <a:latin typeface="Helvetica Neue"/>
                <a:ea typeface="Helvetica Neue"/>
                <a:cs typeface="Helvetica Neue"/>
              </a:rPr>
              <a:t>Texto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80BB6-D7EB-41D6-A38E-467A99D0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91100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45E87"/>
                </a:solidFill>
                <a:latin typeface="Helvetica Neue"/>
                <a:ea typeface="Helvetica Neue"/>
                <a:cs typeface="Helvetica Neue"/>
              </a:rPr>
              <a:t>user.model_dump_json()</a:t>
            </a:r>
          </a:p>
        </p:txBody>
      </p:sp>
    </p:spTree>
    <p:extLst>
      <p:ext uri="{BB962C8B-B14F-4D97-AF65-F5344CB8AC3E}">
        <p14:creationId xmlns:p14="http://schemas.microsoft.com/office/powerpoint/2010/main" val="5672345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427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E55F2-1083-4F28-808D-7E90E4A9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Ejemplos en la notebook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0B6BC-F107-44EF-A3E3-32A4C04F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8BECC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07395-009C-42CB-A510-977CFE98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Anotaciones y diagnósticos de mypy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Descuentos y tipos de retorno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Modelo User y errores de validación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Registros, configuración y serialización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9C6F9-E71C-4A3F-A9D8-6107D2AD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D7E4ED"/>
                </a:solidFill>
                <a:latin typeface="Helvetica Neue"/>
                <a:ea typeface="Helvetica Neue"/>
                <a:cs typeface="Helvetica Neue"/>
              </a:rPr>
              <a:t>01_tipado_pydantic.ipynb</a:t>
            </a:r>
          </a:p>
        </p:txBody>
      </p:sp>
    </p:spTree>
    <p:extLst>
      <p:ext uri="{BB962C8B-B14F-4D97-AF65-F5344CB8AC3E}">
        <p14:creationId xmlns:p14="http://schemas.microsoft.com/office/powerpoint/2010/main" val="2628801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2026-09-16T21:03:35.1740000Z</dcterms:created>
  <dcterms:modified xsi:type="dcterms:W3CDTF">2026-09-16T21:03:35.1740000Z</dcterms:modified>
</coreProperties>
</file>