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https://peps.python.org/pep-0484/</a:t>
            </a:r>
          </a:p>
          <a:p>
            <a:r>
              <a:t>https://pydantic.dev/docs/validation/latest/get-started/</a:t>
            </a:r>
          </a:p>
          <a:p>
            <a:r>
              <a:t>Imagen: https://www.python.org/community/logos/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https://peps.python.org/pep-0001/</a:t>
            </a:r>
          </a:p>
          <a:p>
            <a:r>
              <a:t>Captura de PEP 484: https://peps.python.org/pep-0484/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https://peps.python.org/pep-3107/</a:t>
            </a:r>
          </a:p>
          <a:p>
            <a:r>
              <a:t>https://peps.python.org/pep-0484/</a:t>
            </a:r>
          </a:p>
          <a:p>
            <a:r>
              <a:t>https://peps.python.org/pep-0526/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https://peps.python.org/pep-0585/</a:t>
            </a:r>
          </a:p>
          <a:p>
            <a:r>
              <a:t>https://peps.python.org/pep-0604/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https://peps.python.org/pep-0484/</a:t>
            </a:r>
          </a:p>
          <a:p>
            <a:r>
              <a:t>https://peps.python.org/pep-0526/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https://peps.python.org/pep-0484/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https://mypy.readthedocs.io/en/stable/</a:t>
            </a:r>
          </a:p>
          <a:p>
            <a:r>
              <a:t>https://peps.python.org/pep-0484/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https://github.com/ArjanCodes/examples/blob/main/2025/typehints/generic_return.py</a:t>
            </a:r>
          </a:p>
          <a:p>
            <a:r>
              <a:t>Video de referencia: https://www.youtube.com/watch?v=0oBLMwHdZ2Y</a:t>
            </a:r>
          </a:p>
          <a:p>
            <a:r>
              <a:t>Miniatura: https://i.ytimg.com/vi/0oBLMwHdZ2Y/hqdefault.jpg</a:t>
            </a:r>
          </a:p>
          <a:p>
            <a:r>
              <a:t>Código adaptado de ArjanCodes. Copyright (c) 2023 ArjanCodes. MIT. Véase ARJANCODES_LICENSE.txt.</a:t>
            </a:r>
          </a:p>
          <a:p>
            <a:endParaRPr/>
          </a:p>
          <a:p>
            <a:r>
              <a:t>MIT License</a:t>
            </a:r>
          </a:p>
          <a:p>
            <a:endParaRPr/>
          </a:p>
          <a:p>
            <a:r>
              <a:t>Copyright (c) 2023 ArjanCodes</a:t>
            </a:r>
          </a:p>
          <a:p>
            <a:endParaRPr/>
          </a:p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>
            <a:endParaRPr/>
          </a:p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>
            <a:endParaRPr/>
          </a:p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https://github.com/ArjanCodes/examples/blob/main/2025/typehints/generic_return.py</a:t>
            </a:r>
          </a:p>
          <a:p>
            <a:r>
              <a:t>Código adaptado de ArjanCodes, MIT. Véase ARJANCODES_LICENSE.txt.</a:t>
            </a:r>
          </a:p>
          <a:p>
            <a:endParaRPr/>
          </a:p>
          <a:p>
            <a:r>
              <a:t>MIT License</a:t>
            </a:r>
          </a:p>
          <a:p>
            <a:endParaRPr/>
          </a:p>
          <a:p>
            <a:r>
              <a:t>Copyright (c) 2023 ArjanCodes</a:t>
            </a:r>
          </a:p>
          <a:p>
            <a:endParaRPr/>
          </a:p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>
            <a:endParaRPr/>
          </a:p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>
            <a:endParaRPr/>
          </a:p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https://pydantic.dev/docs/validation/latest/get-started/</a:t>
            </a:r>
          </a:p>
          <a:p>
            <a:r>
              <a:t>Captura: https://pydantic.dev/docs/validation/latest/get-started/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https://docs.pydantic.dev/latest/concepts/models/</a:t>
            </a:r>
          </a:p>
          <a:p>
            <a:r>
              <a:t>https://pydantic.dev/docs/validation/latest/get-started/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https://docs.pydantic.dev/latest/concepts/fields/</a:t>
            </a:r>
          </a:p>
          <a:p>
            <a:r>
              <a:t>https://docs.pydantic.dev/latest/concepts/models/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https://github.com/ArjanCodes/examples/blob/main/2024/pydantic_refresh/example.py</a:t>
            </a:r>
          </a:p>
          <a:p>
            <a:r>
              <a:t>Video de referencia: https://www.youtube.com/watch?v=502XOB0u8OY</a:t>
            </a:r>
          </a:p>
          <a:p>
            <a:r>
              <a:t>Miniatura: https://i.ytimg.com/vi/502XOB0u8OY/hqdefault.jpg</a:t>
            </a:r>
          </a:p>
          <a:p>
            <a:r>
              <a:t>Adaptación simplificada, licencia MIT. Véase ARJANCODES_LICENSE.txt.</a:t>
            </a:r>
          </a:p>
          <a:p>
            <a:endParaRPr/>
          </a:p>
          <a:p>
            <a:r>
              <a:t>MIT License</a:t>
            </a:r>
          </a:p>
          <a:p>
            <a:endParaRPr/>
          </a:p>
          <a:p>
            <a:r>
              <a:t>Copyright (c) 2023 ArjanCodes</a:t>
            </a:r>
          </a:p>
          <a:p>
            <a:endParaRPr/>
          </a:p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>
            <a:endParaRPr/>
          </a:p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>
            <a:endParaRPr/>
          </a:p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https://github.com/ArjanCodes/examples/blob/main/2024/pydantic_refresh/example.py</a:t>
            </a:r>
          </a:p>
          <a:p>
            <a:r>
              <a:t>https://docs.pydantic.dev/latest/api/types/#pydantic.types.SecretStr</a:t>
            </a:r>
          </a:p>
          <a:p>
            <a:r>
              <a:t>Adaptación de ArjanCodes, licencia MIT. Véase ARJANCODES_LICENSE.txt.</a:t>
            </a:r>
          </a:p>
          <a:p>
            <a:endParaRPr/>
          </a:p>
          <a:p>
            <a:r>
              <a:t>MIT License</a:t>
            </a:r>
          </a:p>
          <a:p>
            <a:endParaRPr/>
          </a:p>
          <a:p>
            <a:r>
              <a:t>Copyright (c) 2023 ArjanCodes</a:t>
            </a:r>
          </a:p>
          <a:p>
            <a:endParaRPr/>
          </a:p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>
            <a:endParaRPr/>
          </a:p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>
            <a:endParaRPr/>
          </a:p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https://docs.pydantic.dev/latest/concepts/models/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https://github.com/ArjanCodes/examples/blob/main/2025/typehints/generic_return.py</a:t>
            </a:r>
          </a:p>
          <a:p>
            <a:r>
              <a:t>https://github.com/ArjanCodes/examples/blob/main/2024/pydantic_refresh/example.py</a:t>
            </a:r>
          </a:p>
          <a:p>
            <a:r>
              <a:t>https://pydantic.dev/docs/validation/latest/get-started/</a:t>
            </a:r>
          </a:p>
          <a:p>
            <a:endParaRPr/>
          </a:p>
          <a:p>
            <a:r>
              <a:t>MIT License</a:t>
            </a:r>
          </a:p>
          <a:p>
            <a:endParaRPr/>
          </a:p>
          <a:p>
            <a:r>
              <a:t>Copyright (c) 2023 ArjanCodes</a:t>
            </a:r>
          </a:p>
          <a:p>
            <a:endParaRPr/>
          </a:p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>
            <a:endParaRPr/>
          </a:p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>
            <a:endParaRPr/>
          </a:p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5FCC21-3E9C-4361-9D9A-5541CB2577B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Anotaciones</a:t>
            </a:r>
            <a:r>
              <a:rPr sz="3450" b="1" dirty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3450" b="1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tipo</a:t>
            </a:r>
            <a:endParaRPr sz="3450" b="1" dirty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dirty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y </a:t>
            </a:r>
            <a:r>
              <a:rPr sz="3450" b="1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validación</a:t>
            </a:r>
            <a:r>
              <a:rPr sz="3450" b="1" dirty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3450" b="1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datos</a:t>
            </a:r>
            <a:endParaRPr sz="3450" b="1" dirty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52715-53DF-4B86-B840-60DCCE3F13DB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DAD36-5B86-455B-BF69-BF5C24A5F4BD}"/>
              </a:ext>
            </a:extLst>
          </p:cNvPr>
          <p:cNvSpPr>
            <a:spLocks noGrp="1"/>
          </p:cNvSpPr>
          <p:nvPr/>
        </p:nvSpPr>
        <p:spPr>
          <a:xfrm>
            <a:off x="647700" y="2571750"/>
            <a:ext cx="8096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 dirty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PEP, </a:t>
            </a:r>
            <a:r>
              <a:rPr sz="2550" b="0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mypy</a:t>
            </a:r>
            <a:r>
              <a:rPr sz="2550" b="0" dirty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2550" b="0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Pydantic</a:t>
            </a:r>
            <a:endParaRPr sz="2550" b="0" dirty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35B371-3FF8-4E02-81E4-861EAAAD1277}"/>
              </a:ext>
            </a:extLst>
          </p:cNvPr>
          <p:cNvSpPr>
            <a:spLocks noGrp="1"/>
          </p:cNvSpPr>
          <p:nvPr/>
        </p:nvSpPr>
        <p:spPr>
          <a:xfrm>
            <a:off x="647700" y="33813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Programación</a:t>
            </a:r>
            <a:r>
              <a:rPr sz="1875" b="1" dirty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 para </a:t>
            </a:r>
            <a:r>
              <a:rPr sz="1875" b="1" dirty="0" err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Inteligencia</a:t>
            </a:r>
            <a:r>
              <a:rPr sz="1875" b="1" dirty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 Artificial</a:t>
            </a:r>
          </a:p>
        </p:txBody>
      </p:sp>
      <p:pic>
        <p:nvPicPr>
          <p:cNvPr id="1026" name="Picture 2" descr="Python Logo">
            <a:extLst>
              <a:ext uri="{FF2B5EF4-FFF2-40B4-BE49-F238E27FC236}">
                <a16:creationId xmlns:a16="http://schemas.microsoft.com/office/drawing/2014/main" id="{7C8CD3DD-B7B1-15AD-CE50-76935E9EC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905250"/>
            <a:ext cx="4207466" cy="280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63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37CFD58-01AA-4784-9A06-262BE9EF73B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Python Enhancement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B3018-6870-4F5F-8326-606BDF4BC810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63C268-0395-4510-BD04-7316E5A04909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4767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Una PEP documenta una propuesta de diseño, su motivación y sus decisiones técnicas.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5ECA9-6A27-41C4-B12F-55C73C7D1B4C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476750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También existen PEP informativas y de proceso. Su estado indica si la propuesta sigue en discusión o ya tiene una resolución.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0" y="1675534"/>
            <a:ext cx="6000750" cy="436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9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B608C93-144C-4A08-92FC-65D843EE151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Historia de las anotaciones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362514-82CA-4E1C-8AFC-8019F473EBE8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38F50-C517-438E-92BF-0D50762794D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Python 3.0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00E94A-6847-4A14-A96D-0A4DFCC65FB0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B47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47B18"/>
                </a:solidFill>
                <a:latin typeface="Helvetica Neue"/>
                <a:ea typeface="Helvetica Neue"/>
                <a:cs typeface="Helvetica Neue"/>
              </a:rPr>
              <a:t>PEP 3107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8E4753-70C1-4DE7-AA74-ADE22BD0A9B9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3095625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Sintaxis para anotar parámetros y retornos.</a:t>
            </a:r>
          </a:p>
          <a:p>
            <a:endParaRPr sz="2100" b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La propuesta deja abierta su interpretación.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1B498C-5486-48C3-9101-8EEEA23E1A02}"/>
              </a:ext>
            </a:extLst>
          </p:cNvPr>
          <p:cNvSpPr>
            <a:spLocks noGrp="1"/>
          </p:cNvSpPr>
          <p:nvPr/>
        </p:nvSpPr>
        <p:spPr>
          <a:xfrm>
            <a:off x="4429125" y="182880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Python 3.5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02593-A9F0-4C86-A207-B006FFA5FDE5}"/>
              </a:ext>
            </a:extLst>
          </p:cNvPr>
          <p:cNvSpPr>
            <a:spLocks noGrp="1"/>
          </p:cNvSpPr>
          <p:nvPr/>
        </p:nvSpPr>
        <p:spPr>
          <a:xfrm>
            <a:off x="4429125" y="26384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B47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47B18"/>
                </a:solidFill>
                <a:latin typeface="Helvetica Neue"/>
                <a:ea typeface="Helvetica Neue"/>
                <a:cs typeface="Helvetica Neue"/>
              </a:rPr>
              <a:t>PEP 484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A273F9-79E4-4DD2-8D8B-0FDE28F51762}"/>
              </a:ext>
            </a:extLst>
          </p:cNvPr>
          <p:cNvSpPr>
            <a:spLocks noGrp="1"/>
          </p:cNvSpPr>
          <p:nvPr/>
        </p:nvSpPr>
        <p:spPr>
          <a:xfrm>
            <a:off x="4429125" y="3381375"/>
            <a:ext cx="3095625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Convenciones de type hints para el análisis estático.</a:t>
            </a:r>
          </a:p>
          <a:p>
            <a:endParaRPr sz="2100" b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Incorpora el módulo typing.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630C57-939C-4E02-8990-87B9310C6C60}"/>
              </a:ext>
            </a:extLst>
          </p:cNvPr>
          <p:cNvSpPr>
            <a:spLocks noGrp="1"/>
          </p:cNvSpPr>
          <p:nvPr/>
        </p:nvSpPr>
        <p:spPr>
          <a:xfrm>
            <a:off x="8248650" y="182880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Python 3.6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C20EED-DC35-4B3F-9DC6-8B321137D4A5}"/>
              </a:ext>
            </a:extLst>
          </p:cNvPr>
          <p:cNvSpPr>
            <a:spLocks noGrp="1"/>
          </p:cNvSpPr>
          <p:nvPr/>
        </p:nvSpPr>
        <p:spPr>
          <a:xfrm>
            <a:off x="8248650" y="26384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B47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47B18"/>
                </a:solidFill>
                <a:latin typeface="Helvetica Neue"/>
                <a:ea typeface="Helvetica Neue"/>
                <a:cs typeface="Helvetica Neue"/>
              </a:rPr>
              <a:t>PEP 526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E014C9-44C6-48A0-91EE-84AF4C11666C}"/>
              </a:ext>
            </a:extLst>
          </p:cNvPr>
          <p:cNvSpPr>
            <a:spLocks noGrp="1"/>
          </p:cNvSpPr>
          <p:nvPr/>
        </p:nvSpPr>
        <p:spPr>
          <a:xfrm>
            <a:off x="8248650" y="3381375"/>
            <a:ext cx="3095625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Sintaxis para anotar variables.</a:t>
            </a:r>
          </a:p>
          <a:p>
            <a:endParaRPr sz="2100" b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price: float = 19.5</a:t>
            </a:r>
          </a:p>
        </p:txBody>
      </p:sp>
    </p:spTree>
    <p:extLst>
      <p:ext uri="{BB962C8B-B14F-4D97-AF65-F5344CB8AC3E}">
        <p14:creationId xmlns:p14="http://schemas.microsoft.com/office/powerpoint/2010/main" val="52416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0A1556-3336-479C-8048-37C52F64A063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Sintaxis moderna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359B4-B499-45E7-8F33-8453B90F43AB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0AFE45-733E-4067-AA0D-BAC167FD4905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3C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3C76E"/>
                </a:solidFill>
                <a:latin typeface="Helvetica Neue"/>
                <a:ea typeface="Helvetica Neue"/>
                <a:cs typeface="Helvetica Neue"/>
              </a:rPr>
              <a:t>Python 3.9 · PEP 585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074CB4-A94A-4663-B4BC-7C611AAAFFA6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list[str]        dict[str, int]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846F1-8F38-4594-A6B2-ABF46ED6627B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3C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3C76E"/>
                </a:solidFill>
                <a:latin typeface="Helvetica Neue"/>
                <a:ea typeface="Helvetica Neue"/>
                <a:cs typeface="Helvetica Neue"/>
              </a:rPr>
              <a:t>Python 3.10 · PEP 604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C8A308-584D-47BA-B162-C75666C67F59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float | None     str | int</a:t>
            </a:r>
          </a:p>
        </p:txBody>
      </p:sp>
    </p:spTree>
    <p:extLst>
      <p:ext uri="{BB962C8B-B14F-4D97-AF65-F5344CB8AC3E}">
        <p14:creationId xmlns:p14="http://schemas.microsoft.com/office/powerpoint/2010/main" val="149479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9A83F1-7216-43E5-A716-557BD4B5AE6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Anatomía de una anotación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08CE25-C931-42BE-897D-12649D0BACE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E5EB05-04B3-4426-BD75-5D80B49C7C7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4775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def greet(name: str) -&gt; str:</a:t>
            </a:r>
          </a:p>
          <a:p>
            <a:pPr>
              <a:defRPr sz="315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    return f"Hello, {name}!"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B47A9-7756-43C4-87B0-18EE33A82187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name: str     Tipo esperado del argumento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3594E-B18F-4FBE-9207-D0E78020E22D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-&gt; str           Tipo declarado del retorno</a:t>
            </a:r>
          </a:p>
        </p:txBody>
      </p:sp>
    </p:spTree>
    <p:extLst>
      <p:ext uri="{BB962C8B-B14F-4D97-AF65-F5344CB8AC3E}">
        <p14:creationId xmlns:p14="http://schemas.microsoft.com/office/powerpoint/2010/main" val="88762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F5F2F0-BC35-43B3-9E6F-2D616D7CF8A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Anotaciones y ejecución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94DC93-69AE-4289-8DB7-C95AC4479039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59D01E-4AB1-451A-94FE-E80232731C51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110490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def repeat_text(text: str, times: int) -&gt; str:</a:t>
            </a:r>
          </a:p>
          <a:p>
            <a:pPr>
              <a:def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return text * times</a:t>
            </a:r>
          </a:p>
          <a:p>
            <a:endParaRPr sz="2250" b="0">
              <a:solidFill>
                <a:srgbClr val="D5E9F2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repeat_text("hi", 2)   # "hihi"</a:t>
            </a:r>
          </a:p>
          <a:p>
            <a:pPr>
              <a:def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repeat_text(3, 2)      #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944DCD-BFB1-4DF8-803C-3EF3263D8D6D}"/>
              </a:ext>
            </a:extLst>
          </p:cNvPr>
          <p:cNvSpPr>
            <a:spLocks noGrp="1"/>
          </p:cNvSpPr>
          <p:nvPr/>
        </p:nvSpPr>
        <p:spPr>
          <a:xfrm>
            <a:off x="609600" y="50577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Python ejecuta ambas llamadas. Las anotaciones por sí solas</a:t>
            </a:r>
          </a:p>
          <a:p>
            <a:pPr>
              <a:def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no comprueban los argumentos ni convierten sus valores.</a:t>
            </a:r>
          </a:p>
        </p:txBody>
      </p:sp>
    </p:spTree>
    <p:extLst>
      <p:ext uri="{BB962C8B-B14F-4D97-AF65-F5344CB8AC3E}">
        <p14:creationId xmlns:p14="http://schemas.microsoft.com/office/powerpoint/2010/main" val="652741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A20597-B728-4F76-B51D-8467AC300DD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Análisis estático con mypy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420ED-C883-4E20-B496-259B5B36DEE1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4FC2D5-639D-408E-9827-EB021411719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mypy examina el código sin ejecutarlo y señala operaciones incompatibles con los tipos declarados.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B2221-BCA3-44BB-97D9-57F1A0DBAFBF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6858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def square(value: float) -&gt; float:</a:t>
            </a:r>
          </a:p>
          <a:p>
            <a:pPr>
              <a:defRPr sz="232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    return value * value</a:t>
            </a:r>
          </a:p>
          <a:p>
            <a:endParaRPr sz="2325" b="0">
              <a:solidFill>
                <a:srgbClr val="245E87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32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square("3")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219C4-68CD-4A4E-989D-C928D9B4825A}"/>
              </a:ext>
            </a:extLst>
          </p:cNvPr>
          <p:cNvSpPr>
            <a:spLocks noGrp="1"/>
          </p:cNvSpPr>
          <p:nvPr/>
        </p:nvSpPr>
        <p:spPr>
          <a:xfrm>
            <a:off x="8334375" y="3048000"/>
            <a:ext cx="3143250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Argumento recibido</a:t>
            </a: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str</a:t>
            </a:r>
          </a:p>
          <a:p>
            <a:endParaRPr sz="2100" b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Tipo esperado</a:t>
            </a: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float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5B7696-3C52-404A-9C28-550C5B92F3A5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python -m mypy example.py</a:t>
            </a:r>
          </a:p>
        </p:txBody>
      </p:sp>
    </p:spTree>
    <p:extLst>
      <p:ext uri="{BB962C8B-B14F-4D97-AF65-F5344CB8AC3E}">
        <p14:creationId xmlns:p14="http://schemas.microsoft.com/office/powerpoint/2010/main" val="393773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2B8270-9517-4635-8571-CD9AEA679BF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ArjanCodes: contrato de retorno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7CA56C-EFED-426F-9252-3102BBBEF928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45456"/>
            <a:ext cx="4667250" cy="35004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657482-5BBA-4686-A427-2547DA07230A}"/>
              </a:ext>
            </a:extLst>
          </p:cNvPr>
          <p:cNvSpPr>
            <a:spLocks noGrp="1"/>
          </p:cNvSpPr>
          <p:nvPr/>
        </p:nvSpPr>
        <p:spPr>
          <a:xfrm>
            <a:off x="5857875" y="1790700"/>
            <a:ext cx="5524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calculate_discounts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849643-4988-4E24-ABD5-C941E81794CE}"/>
              </a:ext>
            </a:extLst>
          </p:cNvPr>
          <p:cNvSpPr>
            <a:spLocks noGrp="1"/>
          </p:cNvSpPr>
          <p:nvPr/>
        </p:nvSpPr>
        <p:spPr>
          <a:xfrm>
            <a:off x="5857875" y="2647950"/>
            <a:ext cx="5524500" cy="2619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El original anota Iterable[float], aunque devuelve una lista.</a:t>
            </a:r>
          </a:p>
          <a:p>
            <a:endParaRPr sz="2100" b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Iterable garantiza un recorrido, pero no garantiza longitud ni acceso por índice.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903D-E94A-45F2-9D4F-34EC98D73D81}"/>
              </a:ext>
            </a:extLst>
          </p:cNvPr>
          <p:cNvSpPr>
            <a:spLocks noGrp="1"/>
          </p:cNvSpPr>
          <p:nvPr/>
        </p:nvSpPr>
        <p:spPr>
          <a:xfrm>
            <a:off x="5857875" y="5381625"/>
            <a:ext cx="5524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len(discounted_items)</a:t>
            </a:r>
          </a:p>
          <a:p>
            <a:pPr>
              <a:defRPr sz="19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discounted_items[0]</a:t>
            </a:r>
          </a:p>
        </p:txBody>
      </p:sp>
    </p:spTree>
    <p:extLst>
      <p:ext uri="{BB962C8B-B14F-4D97-AF65-F5344CB8AC3E}">
        <p14:creationId xmlns:p14="http://schemas.microsoft.com/office/powerpoint/2010/main" val="33599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38DFE-714D-4783-B52C-E71890337A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 retorno que conserva la información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0DDEA6-E414-4973-A11E-80D9F8C54C25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759EC7-6EB7-4EFE-8F5C-4A8DBA2E157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858500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from collections.abc import Iterable</a:t>
            </a:r>
          </a:p>
          <a:p>
            <a:endParaRPr sz="2100" b="0">
              <a:solidFill>
                <a:srgbClr val="D5E9F2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def calculate_discounts(</a:t>
            </a:r>
          </a:p>
          <a:p>
            <a:pPr>
              <a:def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items: Iterable[float], discount: float</a:t>
            </a:r>
          </a:p>
          <a:p>
            <a:pPr>
              <a:def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) -&gt; list[float]:</a:t>
            </a:r>
          </a:p>
          <a:p>
            <a:pPr>
              <a:def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return [item * (1 - discount) for item in items]</a:t>
            </a:r>
          </a:p>
          <a:p>
            <a:endParaRPr sz="2100" b="0">
              <a:solidFill>
                <a:srgbClr val="D5E9F2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prices = calculate_discounts([100.0, 200.0], 0.2)</a:t>
            </a:r>
          </a:p>
          <a:p>
            <a:pPr>
              <a:def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print(len(prices), prices[0])  # 2 80.0</a:t>
            </a:r>
          </a:p>
        </p:txBody>
      </p:sp>
    </p:spTree>
    <p:extLst>
      <p:ext uri="{BB962C8B-B14F-4D97-AF65-F5344CB8AC3E}">
        <p14:creationId xmlns:p14="http://schemas.microsoft.com/office/powerpoint/2010/main" val="111048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617959-C689-4C83-8A50-E22493CC192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Pydantic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E579C7-C981-480C-871E-5C71D536F055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FB2E3-40DA-4EFC-B5E7-813255B98882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4476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Biblioteca de validación de datos basada en anotaciones de tipo.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56481-AD05-4306-ABFD-84C84674D02D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447675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Un modelo declara los campos y sus restricciones. Al recibir datos, Pydantic crea una instancia válida o genera un ValidationError.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19750" y="1743508"/>
            <a:ext cx="5905500" cy="429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4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90EAD3-700C-42D2-ACC2-C20660982F9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Validación y conversión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9223A-E161-4654-AB62-5D7059BBDCD0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CCAC4-D264-4C96-A568-66D37338DC9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8585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from pydantic import BaseModel</a:t>
            </a:r>
          </a:p>
          <a:p>
            <a:endParaRPr sz="2175" b="0">
              <a:solidFill>
                <a:srgbClr val="245E87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class Product(BaseModel):</a:t>
            </a:r>
          </a:p>
          <a:p>
            <a:pPr>
              <a:def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    name: str</a:t>
            </a:r>
          </a:p>
          <a:p>
            <a:pPr>
              <a:def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    price: float</a:t>
            </a:r>
          </a:p>
          <a:p>
            <a:endParaRPr sz="2175" b="0">
              <a:solidFill>
                <a:srgbClr val="245E87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product = Product(name="Notebook", price="19.5")</a:t>
            </a:r>
          </a:p>
          <a:p>
            <a:pPr>
              <a:def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print(product.price)  # 19.5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7A94CB-4318-4F3A-A174-B1959C39C1CF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7632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El campo price contiene un float después de la validación.</a:t>
            </a:r>
          </a:p>
          <a:p>
            <a:pPr>
              <a:def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El modo estricto permite restringir conversiones.</a:t>
            </a:r>
          </a:p>
        </p:txBody>
      </p:sp>
    </p:spTree>
    <p:extLst>
      <p:ext uri="{BB962C8B-B14F-4D97-AF65-F5344CB8AC3E}">
        <p14:creationId xmlns:p14="http://schemas.microsoft.com/office/powerpoint/2010/main" val="203981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F40755-1EAA-4EA2-A8E1-3CAA3FC87F1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Restricciones y errores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B8C857-E0B4-4896-9A83-12298709DB4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CA8A7-8025-4DED-8D4E-9D427353C9C4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668000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from pydantic import BaseModel, Field</a:t>
            </a:r>
          </a:p>
          <a:p>
            <a:endParaRPr sz="2325" b="0">
              <a:solidFill>
                <a:srgbClr val="D5E9F2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class Product(BaseModel):</a:t>
            </a:r>
          </a:p>
          <a:p>
            <a:pPr>
              <a:def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name: str</a:t>
            </a:r>
          </a:p>
          <a:p>
            <a:pPr>
              <a:def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price: float = Field(gt=0)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1E3BF7-6396-44C6-837A-8819748E6510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3905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  <a:p>
            <a:pPr>
              <a:def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price = -5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DE490-A65C-451F-BD64-49F96D322456}"/>
              </a:ext>
            </a:extLst>
          </p:cNvPr>
          <p:cNvSpPr>
            <a:spLocks noGrp="1"/>
          </p:cNvSpPr>
          <p:nvPr/>
        </p:nvSpPr>
        <p:spPr>
          <a:xfrm>
            <a:off x="5762625" y="4476750"/>
            <a:ext cx="561975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Campo: price</a:t>
            </a:r>
          </a:p>
          <a:p>
            <a:pPr>
              <a:def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Regla: valor mayor que cero</a:t>
            </a:r>
          </a:p>
          <a:p>
            <a:pPr>
              <a:def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Resultado: ValidationError</a:t>
            </a:r>
          </a:p>
        </p:txBody>
      </p:sp>
    </p:spTree>
    <p:extLst>
      <p:ext uri="{BB962C8B-B14F-4D97-AF65-F5344CB8AC3E}">
        <p14:creationId xmlns:p14="http://schemas.microsoft.com/office/powerpoint/2010/main" val="93779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A0AA33-E196-4642-B416-B44DFC81A08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ArjanCodes: un modelo User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E1D4E-CE6A-43C6-980D-FA6D7BF216A7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72275" y="1728788"/>
            <a:ext cx="4762500" cy="35718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3F3398-BF00-48A2-8190-93B5B73C906B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5715000" cy="428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name</a:t>
            </a:r>
          </a:p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Nombre requerido</a:t>
            </a:r>
          </a:p>
          <a:p>
            <a:endParaRPr sz="2175" b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email</a:t>
            </a:r>
          </a:p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Formato validado con EmailStr</a:t>
            </a:r>
          </a:p>
          <a:p>
            <a:endParaRPr sz="2175" b="0">
              <a:solidFill>
                <a:srgbClr val="172B3A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  <a:p>
            <a:pPr>
              <a:def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Valores permitidos y valor por defecto</a:t>
            </a:r>
          </a:p>
        </p:txBody>
      </p:sp>
    </p:spTree>
    <p:extLst>
      <p:ext uri="{BB962C8B-B14F-4D97-AF65-F5344CB8AC3E}">
        <p14:creationId xmlns:p14="http://schemas.microsoft.com/office/powerpoint/2010/main" val="1012527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4C27E5-2922-46A3-A819-C64BE4E346B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Campos del modelo User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5D2D5D-DE5E-45D2-AA71-E2C28FCF32E5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605956-11D8-426B-A6BA-A769A01641F6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858500" cy="3333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from typing import Literal</a:t>
            </a:r>
          </a:p>
          <a:p>
            <a:pPr>
              <a:def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from pydantic import BaseModel, EmailStr, Field, SecretStr</a:t>
            </a:r>
          </a:p>
          <a:p>
            <a:endParaRPr sz="2025" b="0">
              <a:solidFill>
                <a:srgbClr val="D5E9F2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class User(BaseModel):</a:t>
            </a:r>
          </a:p>
          <a:p>
            <a:pPr>
              <a:def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name: str = Field(min_length=2)</a:t>
            </a:r>
          </a:p>
          <a:p>
            <a:pPr>
              <a:def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email: EmailStr</a:t>
            </a:r>
          </a:p>
          <a:p>
            <a:pPr>
              <a:def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password: SecretStr = Field(exclude=True)</a:t>
            </a:r>
          </a:p>
          <a:p>
            <a:pPr>
              <a:def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9F2"/>
                </a:solidFill>
                <a:latin typeface="Helvetica Neue"/>
                <a:ea typeface="Helvetica Neue"/>
                <a:cs typeface="Helvetica Neue"/>
              </a:rPr>
              <a:t>    role: Literal["author", "editor", "admin"] = "author"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40962A-8262-4659-93AE-7DC493EC7336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0858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SecretStr oculta el valor al representarlo. No cifra la contraseña.</a:t>
            </a:r>
          </a:p>
          <a:p>
            <a:pPr>
              <a:defRPr sz="19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exclude=True la omite al serializar el modelo.</a:t>
            </a:r>
          </a:p>
        </p:txBody>
      </p:sp>
    </p:spTree>
    <p:extLst>
      <p:ext uri="{BB962C8B-B14F-4D97-AF65-F5344CB8AC3E}">
        <p14:creationId xmlns:p14="http://schemas.microsoft.com/office/powerpoint/2010/main" val="336796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38ABDB-8608-4632-9D04-3C8EC43DEF7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Serialización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AAD767-DEAE-4846-B700-8B321C80071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37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F69470-5248-40BF-AEA0-34B87528F6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Instancia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DF07B6-F084-431B-9A57-5ABC5E2F13B2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714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user.name</a:t>
            </a:r>
          </a:p>
          <a:p>
            <a:pPr>
              <a:def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user.email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BC8B9-8435-47A4-AA0B-117C4EDCD285}"/>
              </a:ext>
            </a:extLst>
          </p:cNvPr>
          <p:cNvSpPr>
            <a:spLocks noGrp="1"/>
          </p:cNvSpPr>
          <p:nvPr/>
        </p:nvSpPr>
        <p:spPr>
          <a:xfrm>
            <a:off x="4591050" y="1743075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Diccionario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140AFE-F69A-4397-8A88-EBEC9251B8AA}"/>
              </a:ext>
            </a:extLst>
          </p:cNvPr>
          <p:cNvSpPr>
            <a:spLocks noGrp="1"/>
          </p:cNvSpPr>
          <p:nvPr/>
        </p:nvSpPr>
        <p:spPr>
          <a:xfrm>
            <a:off x="4591050" y="2638425"/>
            <a:ext cx="685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user.model_dump()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43067-1149-498E-9207-DBACE69AEE4E}"/>
              </a:ext>
            </a:extLst>
          </p:cNvPr>
          <p:cNvSpPr>
            <a:spLocks noGrp="1"/>
          </p:cNvSpPr>
          <p:nvPr/>
        </p:nvSpPr>
        <p:spPr>
          <a:xfrm>
            <a:off x="4591050" y="411480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Texto JSON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180BB6-D7EB-41D6-A38E-467A99D04A6C}"/>
              </a:ext>
            </a:extLst>
          </p:cNvPr>
          <p:cNvSpPr>
            <a:spLocks noGrp="1"/>
          </p:cNvSpPr>
          <p:nvPr/>
        </p:nvSpPr>
        <p:spPr>
          <a:xfrm>
            <a:off x="4591050" y="4991100"/>
            <a:ext cx="685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45E87"/>
                </a:solidFill>
                <a:latin typeface="Helvetica Neue"/>
                <a:ea typeface="Helvetica Neue"/>
                <a:cs typeface="Helvetica Neue"/>
              </a:rPr>
              <a:t>user.model_dump_json()</a:t>
            </a:r>
          </a:p>
        </p:txBody>
      </p:sp>
    </p:spTree>
    <p:extLst>
      <p:ext uri="{BB962C8B-B14F-4D97-AF65-F5344CB8AC3E}">
        <p14:creationId xmlns:p14="http://schemas.microsoft.com/office/powerpoint/2010/main" val="56723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5E55F2-1083-4F28-808D-7E90E4A99CA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347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Ejemplos en la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0B6BC-F107-44EF-A3E3-32A4C04F1956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8BECC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707395-009C-42CB-A510-977CFE987EE2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537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Anotaciones y diagnósticos de mypy</a:t>
            </a:r>
          </a:p>
          <a:p>
            <a:endParaRPr sz="2550" b="0">
              <a:solidFill>
                <a:srgbClr val="D7E4ED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Descuentos y tipos de retorno</a:t>
            </a:r>
          </a:p>
          <a:p>
            <a:endParaRPr sz="2550" b="0">
              <a:solidFill>
                <a:srgbClr val="D7E4ED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Modelo User y errores de validación</a:t>
            </a:r>
          </a:p>
          <a:p>
            <a:endParaRPr sz="2550" b="0">
              <a:solidFill>
                <a:srgbClr val="D7E4ED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Registros, configuración y serialización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9C6F9-E71C-4A3F-A9D8-6107D2ADA29F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7E4ED"/>
                </a:solidFill>
                <a:latin typeface="Helvetica Neue"/>
                <a:ea typeface="Helvetica Neue"/>
                <a:cs typeface="Helvetica Neue"/>
              </a:rPr>
              <a:t>01_tipado_pydantic.ipynb</a:t>
            </a:r>
          </a:p>
        </p:txBody>
      </p:sp>
    </p:spTree>
    <p:extLst>
      <p:ext uri="{BB962C8B-B14F-4D97-AF65-F5344CB8AC3E}">
        <p14:creationId xmlns:p14="http://schemas.microsoft.com/office/powerpoint/2010/main" val="2628801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2303</Words>
  <Application>Microsoft Macintosh PowerPoint</Application>
  <DocSecurity>0</DocSecurity>
  <PresentationFormat>Widescreen</PresentationFormat>
  <Paragraphs>296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OSCAR RAUL NAVARRETE PARRA</cp:lastModifiedBy>
  <cp:revision>1</cp:revision>
  <dcterms:created xsi:type="dcterms:W3CDTF">2026-09-16T21:03:35Z</dcterms:created>
  <dcterms:modified xsi:type="dcterms:W3CDTF">2026-09-16T21:32:38Z</dcterms:modified>
</cp:coreProperties>
</file>