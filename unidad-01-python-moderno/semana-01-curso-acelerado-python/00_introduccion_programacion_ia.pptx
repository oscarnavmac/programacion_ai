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130e800bdd4ac4" /><Relationship Type="http://schemas.openxmlformats.org/officeDocument/2006/relationships/extended-properties" Target="/docProps/app.xml" Id="R599a3ab3b9ec4c0a" /><Relationship Type="http://schemas.openxmlformats.org/officeDocument/2006/relationships/officeDocument" Target="/ppt/presentation.xml" Id="Rfcb723af085a41f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1cba2c5bdce4f13"/>
  </p:sldMasterIdLst>
  <p:notesMasterIdLst>
    <p:notesMasterId xmlns:r="http://schemas.openxmlformats.org/officeDocument/2006/relationships" r:id="R1b9e623b533342bf"/>
  </p:notesMasterIdLst>
  <p:sldIdLst>
    <p:sldId xmlns:r="http://schemas.openxmlformats.org/officeDocument/2006/relationships" id="256" r:id="R9c19410dba44423e"/>
    <p:sldId xmlns:r="http://schemas.openxmlformats.org/officeDocument/2006/relationships" id="257" r:id="Rf9b0c6cf7ecb4ac6"/>
    <p:sldId xmlns:r="http://schemas.openxmlformats.org/officeDocument/2006/relationships" id="258" r:id="R1f1a6ffdbf3a4666"/>
    <p:sldId xmlns:r="http://schemas.openxmlformats.org/officeDocument/2006/relationships" id="259" r:id="R9bf6cb55195144df"/>
    <p:sldId xmlns:r="http://schemas.openxmlformats.org/officeDocument/2006/relationships" id="260" r:id="R2b105381458c4062"/>
    <p:sldId xmlns:r="http://schemas.openxmlformats.org/officeDocument/2006/relationships" id="261" r:id="R3a43689dec7945c9"/>
    <p:sldId xmlns:r="http://schemas.openxmlformats.org/officeDocument/2006/relationships" id="262" r:id="Rf4fe9c86dcf84e77"/>
    <p:sldId xmlns:r="http://schemas.openxmlformats.org/officeDocument/2006/relationships" id="263" r:id="Rfc08ffe66bc04b83"/>
    <p:sldId xmlns:r="http://schemas.openxmlformats.org/officeDocument/2006/relationships" id="264" r:id="R1855b13fa61a472a"/>
    <p:sldId xmlns:r="http://schemas.openxmlformats.org/officeDocument/2006/relationships" id="265" r:id="R2975be7559fc4c0a"/>
    <p:sldId xmlns:r="http://schemas.openxmlformats.org/officeDocument/2006/relationships" id="266" r:id="Rc7202b34e07c4153"/>
    <p:sldId xmlns:r="http://schemas.openxmlformats.org/officeDocument/2006/relationships" id="267" r:id="R15d3274625e14349"/>
    <p:sldId xmlns:r="http://schemas.openxmlformats.org/officeDocument/2006/relationships" id="268" r:id="R8cf65913a6a64867"/>
    <p:sldId xmlns:r="http://schemas.openxmlformats.org/officeDocument/2006/relationships" id="269" r:id="Re8613c267a014425"/>
    <p:sldId xmlns:r="http://schemas.openxmlformats.org/officeDocument/2006/relationships" id="270" r:id="R4857efa0489a427b"/>
    <p:sldId xmlns:r="http://schemas.openxmlformats.org/officeDocument/2006/relationships" id="271" r:id="Rffcc2715abbf4242"/>
    <p:sldId xmlns:r="http://schemas.openxmlformats.org/officeDocument/2006/relationships" id="272" r:id="Rb3d347fb9c0448ce"/>
    <p:sldId xmlns:r="http://schemas.openxmlformats.org/officeDocument/2006/relationships" id="273" r:id="Rafe345a27d0c4c95"/>
    <p:sldId xmlns:r="http://schemas.openxmlformats.org/officeDocument/2006/relationships" id="274" r:id="R4b5e045bb86c48dc"/>
  </p:sldIdLst>
  <p:sldSz cx="12192000" cy="6858000"/>
  <p:notesSz cx="6858000" cy="9144000"/>
  <p:embeddedFontLst>
    <p:embeddedFont>
      <p:font typeface="OpenAI Sans"/>
      <p:regular xmlns:r="http://schemas.openxmlformats.org/officeDocument/2006/relationships" r:id="R8c2dab9e5edf4dc6"/>
      <p:bold xmlns:r="http://schemas.openxmlformats.org/officeDocument/2006/relationships" r:id="R8a00c3fa337745a2"/>
      <p:italic xmlns:r="http://schemas.openxmlformats.org/officeDocument/2006/relationships" r:id="R2ad040349223498a"/>
      <p:boldItalic xmlns:r="http://schemas.openxmlformats.org/officeDocument/2006/relationships" r:id="R8ed68b6bf7754aa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c00497229f544a8" /><Relationship Type="http://schemas.openxmlformats.org/officeDocument/2006/relationships/slideMaster" Target="/ppt/slideMasters/slideMaster1.xml" Id="Rc1cba2c5bdce4f13" /><Relationship Type="http://schemas.openxmlformats.org/officeDocument/2006/relationships/notesMaster" Target="/ppt/notesMasters/notesMaster1.xml" Id="R1b9e623b533342bf" /><Relationship Type="http://schemas.openxmlformats.org/officeDocument/2006/relationships/presProps" Target="/ppt/presProps.xml" Id="R1d9bc966caae4887" /><Relationship Type="http://schemas.openxmlformats.org/officeDocument/2006/relationships/viewProps" Target="/ppt/viewProps.xml" Id="R866e356660b04221" /><Relationship Type="http://schemas.openxmlformats.org/officeDocument/2006/relationships/tableStyles" Target="/ppt/tableStyles.xml" Id="R556631fedea74280" /><Relationship Type="http://schemas.openxmlformats.org/officeDocument/2006/relationships/font" Target="/ppt/fonts/font.dat" Id="R8c2dab9e5edf4dc6" /><Relationship Type="http://schemas.openxmlformats.org/officeDocument/2006/relationships/font" Target="/ppt/fonts/font2.dat" Id="R8a00c3fa337745a2" /><Relationship Type="http://schemas.openxmlformats.org/officeDocument/2006/relationships/font" Target="/ppt/fonts/font3.dat" Id="R2ad040349223498a" /><Relationship Type="http://schemas.openxmlformats.org/officeDocument/2006/relationships/font" Target="/ppt/fonts/font4.dat" Id="R8ed68b6bf7754aab" /><Relationship Type="http://schemas.openxmlformats.org/officeDocument/2006/relationships/slide" Target="/ppt/slides/slide1.xml" Id="R9c19410dba44423e" /><Relationship Type="http://schemas.openxmlformats.org/officeDocument/2006/relationships/slide" Target="/ppt/slides/slide2.xml" Id="Rf9b0c6cf7ecb4ac6" /><Relationship Type="http://schemas.openxmlformats.org/officeDocument/2006/relationships/slide" Target="/ppt/slides/slide3.xml" Id="R1f1a6ffdbf3a4666" /><Relationship Type="http://schemas.openxmlformats.org/officeDocument/2006/relationships/slide" Target="/ppt/slides/slide4.xml" Id="R9bf6cb55195144df" /><Relationship Type="http://schemas.openxmlformats.org/officeDocument/2006/relationships/slide" Target="/ppt/slides/slide5.xml" Id="R2b105381458c4062" /><Relationship Type="http://schemas.openxmlformats.org/officeDocument/2006/relationships/slide" Target="/ppt/slides/slide6.xml" Id="R3a43689dec7945c9" /><Relationship Type="http://schemas.openxmlformats.org/officeDocument/2006/relationships/slide" Target="/ppt/slides/slide7.xml" Id="Rf4fe9c86dcf84e77" /><Relationship Type="http://schemas.openxmlformats.org/officeDocument/2006/relationships/slide" Target="/ppt/slides/slide8.xml" Id="Rfc08ffe66bc04b83" /><Relationship Type="http://schemas.openxmlformats.org/officeDocument/2006/relationships/slide" Target="/ppt/slides/slide9.xml" Id="R1855b13fa61a472a" /><Relationship Type="http://schemas.openxmlformats.org/officeDocument/2006/relationships/slide" Target="/ppt/slides/slide10.xml" Id="R2975be7559fc4c0a" /><Relationship Type="http://schemas.openxmlformats.org/officeDocument/2006/relationships/slide" Target="/ppt/slides/slide11.xml" Id="Rc7202b34e07c4153" /><Relationship Type="http://schemas.openxmlformats.org/officeDocument/2006/relationships/slide" Target="/ppt/slides/slide12.xml" Id="R15d3274625e14349" /><Relationship Type="http://schemas.openxmlformats.org/officeDocument/2006/relationships/slide" Target="/ppt/slides/slide13.xml" Id="R8cf65913a6a64867" /><Relationship Type="http://schemas.openxmlformats.org/officeDocument/2006/relationships/slide" Target="/ppt/slides/slide14.xml" Id="Re8613c267a014425" /><Relationship Type="http://schemas.openxmlformats.org/officeDocument/2006/relationships/slide" Target="/ppt/slides/slide15.xml" Id="R4857efa0489a427b" /><Relationship Type="http://schemas.openxmlformats.org/officeDocument/2006/relationships/slide" Target="/ppt/slides/slide16.xml" Id="Rffcc2715abbf4242" /><Relationship Type="http://schemas.openxmlformats.org/officeDocument/2006/relationships/slide" Target="/ppt/slides/slide17.xml" Id="Rb3d347fb9c0448ce" /><Relationship Type="http://schemas.openxmlformats.org/officeDocument/2006/relationships/slide" Target="/ppt/slides/slide18.xml" Id="Rafe345a27d0c4c95" /><Relationship Type="http://schemas.openxmlformats.org/officeDocument/2006/relationships/slide" Target="/ppt/slides/slide19.xml" Id="R4b5e045bb86c48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9d53445c4c41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b241350a945ed" /><Relationship Type="http://schemas.openxmlformats.org/officeDocument/2006/relationships/notesMaster" Target="/ppt/notesMasters/notesMaster1.xml" Id="Rff409a60d54849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2803fd9abb4255" /><Relationship Type="http://schemas.openxmlformats.org/officeDocument/2006/relationships/notesMaster" Target="/ppt/notesMasters/notesMaster1.xml" Id="Rbd84141083f242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2c1bb644164f35" /><Relationship Type="http://schemas.openxmlformats.org/officeDocument/2006/relationships/notesMaster" Target="/ppt/notesMasters/notesMaster1.xml" Id="R6adc8caf8079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069513d0a84a3e" /><Relationship Type="http://schemas.openxmlformats.org/officeDocument/2006/relationships/notesMaster" Target="/ppt/notesMasters/notesMaster1.xml" Id="Rca34b4ccf80a45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7f73d838b34544" /><Relationship Type="http://schemas.openxmlformats.org/officeDocument/2006/relationships/notesMaster" Target="/ppt/notesMasters/notesMaster1.xml" Id="Re91940001f1242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a387172c3743f5" /><Relationship Type="http://schemas.openxmlformats.org/officeDocument/2006/relationships/notesMaster" Target="/ppt/notesMasters/notesMaster1.xml" Id="R861dac64cd0e48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02cd2c92854dad" /><Relationship Type="http://schemas.openxmlformats.org/officeDocument/2006/relationships/notesMaster" Target="/ppt/notesMasters/notesMaster1.xml" Id="Rc4afd100f38d4a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d0012400064745" /><Relationship Type="http://schemas.openxmlformats.org/officeDocument/2006/relationships/notesMaster" Target="/ppt/notesMasters/notesMaster1.xml" Id="R3094acceff5847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d21e34f3144c44" /><Relationship Type="http://schemas.openxmlformats.org/officeDocument/2006/relationships/notesMaster" Target="/ppt/notesMasters/notesMaster1.xml" Id="R2025b70b04b247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a88cf48f7341a9" /><Relationship Type="http://schemas.openxmlformats.org/officeDocument/2006/relationships/notesMaster" Target="/ppt/notesMasters/notesMaster1.xml" Id="Rf4163d9d30f245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64616450c74a32" /><Relationship Type="http://schemas.openxmlformats.org/officeDocument/2006/relationships/notesMaster" Target="/ppt/notesMasters/notesMaster1.xml" Id="R4c62e19bd3474a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8c9929f2974ab6" /><Relationship Type="http://schemas.openxmlformats.org/officeDocument/2006/relationships/notesMaster" Target="/ppt/notesMasters/notesMaster1.xml" Id="R506ef1e364174d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37cdf263db4956" /><Relationship Type="http://schemas.openxmlformats.org/officeDocument/2006/relationships/notesMaster" Target="/ppt/notesMasters/notesMaster1.xml" Id="R8d568b90c38642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657556ec2b477d" /><Relationship Type="http://schemas.openxmlformats.org/officeDocument/2006/relationships/notesMaster" Target="/ppt/notesMasters/notesMaster1.xml" Id="R423ad6096a6c41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c27ae1b1524b80" /><Relationship Type="http://schemas.openxmlformats.org/officeDocument/2006/relationships/notesMaster" Target="/ppt/notesMasters/notesMaster1.xml" Id="R811ab2d1a4fd4a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1bf609f5ba4919" /><Relationship Type="http://schemas.openxmlformats.org/officeDocument/2006/relationships/notesMaster" Target="/ppt/notesMasters/notesMaster1.xml" Id="R7604045ce71647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4386c418c04e70" /><Relationship Type="http://schemas.openxmlformats.org/officeDocument/2006/relationships/notesMaster" Target="/ppt/notesMasters/notesMaster1.xml" Id="Raeff798c912c4c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b6bc29d8364d4c" /><Relationship Type="http://schemas.openxmlformats.org/officeDocument/2006/relationships/notesMaster" Target="/ppt/notesMasters/notesMaster1.xml" Id="R8491f56ad5174c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b9b2751c3047d1" /><Relationship Type="http://schemas.openxmlformats.org/officeDocument/2006/relationships/notesMaster" Target="/ppt/notesMasters/notesMaster1.xml" Id="R206c03bfddf14f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previa a la notebook 1. Duración sugerida: 20 a 25 minutos, ajustable al diagnóstico del grupo. Dar la bienvenida y preguntar quién ha programado antes. Explicar que el taller permitirá identificar qué fundamentos necesitan más práctica. Docente: M.C. Óscar Raúl Navarrete Parra.</a:t>
            </a:r>
            <a:endParaRPr/>
          </a:p>
          <a:p xmlns:a="http://schemas.openxmlformats.org/drawingml/2006/main">
            <a:r>
              <a:t/>
            </a:r>
            <a:endParaRPr/>
          </a:p>
          <a:p xmlns:a="http://schemas.openxmlformats.org/drawingml/2006/main">
            <a:r>
              <a:t>Fuentes:</a:t>
            </a:r>
            <a:endParaRPr/>
          </a:p>
          <a:p xmlns:a="http://schemas.openxmlformats.org/drawingml/2006/main">
            <a:r>
              <a:t>https://docs.google.com/document/d/1Fjxbb7GRZvFAjz2FfyG1PnTY2zgadKms/edit</a:t>
            </a:r>
            <a:endParaRPr/>
          </a:p>
          <a:p xmlns:a="http://schemas.openxmlformats.org/drawingml/2006/main">
            <a:r>
              <a:t>https://ingreso.uady.mx/posgrado/recursos/convocatorias/especificas/DoctoradoenCienciasMatematicas.pdf</a:t>
            </a:r>
            <a:endParaRPr/>
          </a:p>
          <a:p xmlns:a="http://schemas.openxmlformats.org/drawingml/2006/main">
            <a:r>
              <a:t>https://ingreso.uady.mx/posgrado/recursos/convocatorias/especificas/DoctoradoenCienciasMatematicas.pdf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Ejemplo oral: una aplicación recibe registros, detecta entradas inválidas, consulta datos y produce una salida. Incluso cuando incorpora un modelo, necesita estas operaciones. El plan maestro distingue la programación de componentes del aprendizaje de modelos. Pregunta: ¿qué podría fallar aunque el modelo funcionara bien?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https://docs.google.com/document/d/1Fjxbb7GRZvFAjz2FfyG1PnTY2zgadKms/edit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las tres unidades de forma general. Los títulos completos y sus alcances aparecen en las siguientes diapositivas. El cierre consolida las unidades, no constituye una cuarta unidad. El plan contempla trabajo independiente, revisión y presentación.</a:t>
            </a:r>
          </a:p>
          <a:p xmlns:a="http://schemas.openxmlformats.org/drawingml/2006/main">
            <a:r>
              <a:t/>
            </a:r>
          </a:p>
          <a:p xmlns:a="http://schemas.openxmlformats.org/drawingml/2006/main">
            <a:r>
              <a:t>Fuentes:</a:t>
            </a:r>
          </a:p>
          <a:p xmlns:a="http://schemas.openxmlformats.org/drawingml/2006/main">
            <a:r>
              <a:t>https://docs.google.com/document/d/1Fjxbb7GRZvFAjz2FfyG1PnTY2zgadKms/edit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sesión se concentra en Python y las notebooks. Las herramientas de los siguientes bloques solo se nombran aquí. Producto de la unidad: componentes mantenibles y un repositorio instalable y verificable. Los patrones de diseño son opcionales y situados, no un catálogo obligatorio.</a:t>
            </a:r>
          </a:p>
          <a:p xmlns:a="http://schemas.openxmlformats.org/drawingml/2006/main">
            <a:r>
              <a:t/>
            </a:r>
          </a:p>
          <a:p xmlns:a="http://schemas.openxmlformats.org/drawingml/2006/main">
            <a:r>
              <a:t>Fuentes:</a:t>
            </a:r>
          </a:p>
          <a:p xmlns:a="http://schemas.openxmlformats.org/drawingml/2006/main">
            <a:r>
              <a:t>https://docs.google.com/document/d/1Fjxbb7GRZvFAjz2FfyG1PnTY2zgadKms/edit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esta unidad PyTorch se usa como biblioteca tensorial. No se cubren autograd, redes neuronales ni entrenamiento. Producto: procesamiento reproducible, representación tensorial en CPU y visualizaciones con una pregunta e interpretación explícitas. Traducir broadcasting de manera informal como reglas para operar con arreglos de formas compatibles, sin enseñar aún la mecánica.</a:t>
            </a:r>
          </a:p>
          <a:p xmlns:a="http://schemas.openxmlformats.org/drawingml/2006/main">
            <a:r>
              <a:t/>
            </a:r>
          </a:p>
          <a:p xmlns:a="http://schemas.openxmlformats.org/drawingml/2006/main">
            <a:r>
              <a:t>Fuentes:</a:t>
            </a:r>
          </a:p>
          <a:p xmlns:a="http://schemas.openxmlformats.org/drawingml/2006/main">
            <a:r>
              <a:t>https://docs.google.com/document/d/1Fjxbb7GRZvFAjz2FfyG1PnTY2zgadKms/edit</a:t>
            </a:r>
          </a:p>
          <a:p xmlns:a="http://schemas.openxmlformats.org/drawingml/2006/main">
            <a:r>
              <a:t>https://numpy.org/</a:t>
            </a:r>
          </a:p>
          <a:p xmlns:a="http://schemas.openxmlformats.org/drawingml/2006/main">
            <a:r>
              <a:t>https://pandas.pydata.org/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Distinguir el grafo de datos de Neo4j del grafo de ejecución de LangGraph. Para el proyecto se elige PostgreSQL o Neo4j según el problema. La integración puede usar funciones deterministas o dobles de prueba. No se exige una API pagada ni convertir el trabajo en un chatbot.</a:t>
            </a:r>
          </a:p>
          <a:p xmlns:a="http://schemas.openxmlformats.org/drawingml/2006/main">
            <a:r>
              <a:t/>
            </a:r>
          </a:p>
          <a:p xmlns:a="http://schemas.openxmlformats.org/drawingml/2006/main">
            <a:r>
              <a:t>Fuentes:</a:t>
            </a:r>
          </a:p>
          <a:p xmlns:a="http://schemas.openxmlformats.org/drawingml/2006/main">
            <a:r>
              <a:t>https://docs.google.com/document/d/1Fjxbb7GRZvFAjz2FfyG1PnTY2zgadKms/edit</a:t>
            </a:r>
          </a:p>
          <a:p xmlns:a="http://schemas.openxmlformats.org/drawingml/2006/main">
            <a:r>
              <a:t>https://www.postgresql.org/about/press/presskit18/</a:t>
            </a:r>
          </a:p>
          <a:p xmlns:a="http://schemas.openxmlformats.org/drawingml/2006/main">
            <a:r>
              <a:t>https://neo4j.com/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Ejemplo admisible: integrar datos abiertos, validarlos, almacenarlos y producir un reporte. Un proyecto sólido puede ejecutarse en CPU y sin servicios pagados. Se evalúa coherencia, no cantidad de tecnologías. No presentar un nuevo producto evaluable ni imponer un dominio de proyecto.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https://docs.google.com/document/d/1Fjxbb7GRZvFAjz2FfyG1PnTY2zgadKms/edit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Distribución del plan maestro del 6 de septiembre de 2026. Explicar que las prácticas usan listas de cotejo y los proyectos usan rúbricas. La evidencia debe poder ejecutarse y las decisiones deben justificarse. Los cuatro pesos suman 100 %. Consultar la rúbrica de cada entrega para sus criterios específicos.</a:t>
            </a:r>
          </a:p>
          <a:p xmlns:a="http://schemas.openxmlformats.org/drawingml/2006/main">
            <a:r>
              <a:t/>
            </a:r>
          </a:p>
          <a:p xmlns:a="http://schemas.openxmlformats.org/drawingml/2006/main">
            <a:r>
              <a:t>Fuentes:</a:t>
            </a:r>
          </a:p>
          <a:p xmlns:a="http://schemas.openxmlformats.org/drawingml/2006/main">
            <a:r>
              <a:t>https://docs.google.com/document/d/1Fjxbb7GRZvFAjz2FfyG1PnTY2zgadKms/edit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Abrir el repositorio y mostrar README, carpeta de unidad 1 y carpeta de semana 1. Indicar que los archivos del repositorio y las copias de Colab tienen ubicaciones distintas. Las explicaciones están en español. En notebook 1 los nombres pueden estar en español, desde notebook 2 el código está en inglés. Las soluciones Markdown no se ejecutan con Ejecutar todo.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https://github.com/oscarnavmac/programacion_ai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Pedir al grupo que describa los pasos antes de mostrar sintaxis. Aclarar que el ejemplo es una transformación determinista y no aprende un modelo. Un algoritmo describe el procedimiento, un programa lo expresa en un lenguaje ejecutable. El mismo procedimiento puede implementarse en otros lenguajes.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https://docs.python.org/3/tutorial/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Python es un lenguaje de alto nivel, de tipado dinámico y de código abierto. Alto nivel significa que trabajamos con abstracciones como listas y diccionarios en lugar de instrucciones de máquina. La implementación CPython compila a bytecode antes de ejecutarlo, por lo que interpretado no significa que no exista compilación interna. No es necesario entrar en ese detalle salvo pregunta del grupo. El logo pertenece a la Python Software Foundation.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https://docs.python.org/3/tutorial/</a:t>
            </a:r>
            <a:endParaRPr/>
          </a:p>
          <a:p xmlns:a="http://schemas.openxmlformats.org/drawingml/2006/main">
            <a:pPr marL="0" lvl="0" indent="0" algn="l">
              <a:spcBef>
                <a:spcPts val="0"/>
              </a:spcBef>
              <a:spcAft>
                <a:spcPts val="0"/>
              </a:spcAft>
              <a:buNone/>
            </a:pPr>
            <a:r>
              <a:t>https://www.python.org/about/</a:t>
            </a:r>
            <a:endParaRPr/>
          </a:p>
          <a:p xmlns:a="http://schemas.openxmlformats.org/drawingml/2006/main">
            <a:pPr marL="0" lvl="0" indent="0" algn="l">
              <a:spcBef>
                <a:spcPts val="0"/>
              </a:spcBef>
              <a:spcAft>
                <a:spcPts val="0"/>
              </a:spcAft>
              <a:buNone/>
            </a:pPr>
            <a:r>
              <a:t>https://www.python.org/community/logos/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utilidad de Python combina expresividad, bibliotecas y capacidad de integración. No afirmar que cada bucle Python sea rápido ni que una GPU acelere cualquier programa. Muchas operaciones numéricas se ejecutan en implementaciones compiladas. En este curso usaremos CPU. Algunas bibliotecas del ecosistema sirven para entrenar modelos, pero esa parte queda fuera del alcance de esta asignatura.</a:t>
            </a:r>
          </a:p>
          <a:p xmlns:a="http://schemas.openxmlformats.org/drawingml/2006/main">
            <a:r>
              <a:t/>
            </a:r>
          </a:p>
          <a:p xmlns:a="http://schemas.openxmlformats.org/drawingml/2006/main">
            <a:r>
              <a:t>Fuentes:</a:t>
            </a:r>
          </a:p>
          <a:p xmlns:a="http://schemas.openxmlformats.org/drawingml/2006/main">
            <a:r>
              <a:t>https://docs.python.org/3/tutorial/</a:t>
            </a:r>
          </a:p>
          <a:p xmlns:a="http://schemas.openxmlformats.org/drawingml/2006/main">
            <a:r>
              <a:t>https://www.python.org/about/</a:t>
            </a:r>
          </a:p>
          <a:p xmlns:a="http://schemas.openxmlformats.org/drawingml/2006/main">
            <a:r>
              <a:t>https://numpy.org/doc/stable/user/whatisnumpy.html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Evitar confundir lenguaje, biblioteca y entorno. import permite acceder a un módulo, pero no instala dependencias. Los nombres de bibliotecas son un mapa de lo que vendrá, no una lista de instalaciones para hoy. Las notebooks iniciales usan solamente la biblioteca estándar.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https://docs.python.org/3/tutorial/</a:t>
            </a:r>
            <a:endParaRPr/>
          </a:p>
          <a:p xmlns:a="http://schemas.openxmlformats.org/drawingml/2006/main">
            <a:pPr marL="0" lvl="0" indent="0" algn="l">
              <a:spcBef>
                <a:spcPts val="0"/>
              </a:spcBef>
              <a:spcAft>
                <a:spcPts val="0"/>
              </a:spcAft>
              <a:buNone/>
            </a:pPr>
            <a:r>
              <a:t>https://docs.google.com/document/d/1Fjxbb7GRZvFAjz2FfyG1PnTY2zgadKms/edit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Demostración breve. Leer cada línea y predecir la salida antes de ejecutar. La barra / produce un float. Los corchetes construyen una lista. sum y len son funciones incorporadas. Preguntar qué pasaría con una lista vacía: se produce ZeroDivisionError. No convertir esta introducción en una explicación completa de funciones y colecciones, pues el taller las desarrolla.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https://docs.python.org/3/tutorial/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Mostrar una celda de cada tipo en la notebook 1. Relacionar la distinción con las soluciones del anexo. Colab es el entorno que usamos para trabajar con la notebook, Python es el lenguaje. Las celdas no son programas independientes: pueden depender de variables anteriores.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https://github.com/oscarnavmac/programacion_ai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Pregunta de diagnóstico: si volvemos a ejecutar A con x = 20, ¿qué mostrará B? Respuesta: 21. Si reiniciamos la sesión y ejecutamos solo B, aparece NameError. Evitar decir que el orden visual garantiza el orden de ejecución. No es un fallo de Colab, sino el estado del intérprete.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https://github.com/oscarnavmac/programacion_ai</a:t>
            </a:r>
            <a:endParaRPr/>
          </a:p>
          <a:p xmlns:a="http://schemas.openxmlformats.org/drawingml/2006/main">
            <a:pPr marL="0" lvl="0" indent="0" algn="l">
              <a:spcBef>
                <a:spcPts val="0"/>
              </a:spcBef>
              <a:spcAft>
                <a:spcPts val="0"/>
              </a:spcAft>
              <a:buNone/>
            </a:pPr>
            <a:r>
              <a:t>https://docs.python.org/3/tutorial/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notebook contiene 14 ejercicios, pero el ritmo depende del diagnóstico. Los retos opcionales no son requisitos adicionales. En el caso integrador trabajamos con registros de ejemplo, no ejecutamos ni entrenamos un modelo. Aclarar que score y exactitud no son equivalentes. El promedio de scores del ejemplo no mide exactitud del modelo.</a:t>
            </a:r>
          </a:p>
          <a:p xmlns:a="http://schemas.openxmlformats.org/drawingml/2006/main">
            <a:r>
              <a:t/>
            </a:r>
          </a:p>
          <a:p xmlns:a="http://schemas.openxmlformats.org/drawingml/2006/main">
            <a:r>
              <a:t>Fuentes:</a:t>
            </a:r>
          </a:p>
          <a:p xmlns:a="http://schemas.openxmlformats.org/drawingml/2006/main">
            <a:r>
              <a:t>https://github.com/oscarnavmac/programacion_ai</a:t>
            </a:r>
          </a:p>
          <a:p xmlns:a="http://schemas.openxmlformats.org/drawingml/2006/main">
            <a:r>
              <a:t>https://docs.google.com/document/d/1Fjxbb7GRZvFAjz2FfyG1PnTY2zgadKms/edit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Dar un minuto para respuestas. Cero es un dato posible, None puede representar ausencia según el contrato. La segunda pregunta no tiene una única respuesta universal: debemos definir si rechazamos, convertimos o solicitamos corrección. No introducir un sistema de calificación nuevo. Retomar estas preguntas durante los ejercicios 5 y 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a:t>
            </a:r>
            <a:endParaRPr/>
          </a:p>
          <a:p xmlns:a="http://schemas.openxmlformats.org/drawingml/2006/main">
            <a:pPr marL="0" lvl="0" indent="0" algn="l">
              <a:spcBef>
                <a:spcPts val="0"/>
              </a:spcBef>
              <a:spcAft>
                <a:spcPts val="0"/>
              </a:spcAft>
              <a:buNone/>
            </a:pPr>
            <a:r>
              <a:t>https://github.com/oscarnavmac/programacion_ai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la notebook 1 mediante el enlace. Crear una copia personal si hace falta guardar cambios. Empezar por la verificación del entorno y la primera sección. Python 3.12 o posterior es el requisito del curso, 3.13 es la recomendación docente. Hoy basta CPU y la biblioteca estándar. Después de la notebook 1, continuar con las 19 reglas del Zen en notebook 2. Enlace a notebook 2: https://colab.research.google.com/drive/1LfSWYKK6IWOgZjeucIhkafDpOgz6boCi?usp=sharing</a:t>
            </a:r>
            <a:endParaRPr/>
          </a:p>
          <a:p xmlns:a="http://schemas.openxmlformats.org/drawingml/2006/main">
            <a:r>
              <a:t/>
            </a:r>
            <a:endParaRPr/>
          </a:p>
          <a:p xmlns:a="http://schemas.openxmlformats.org/drawingml/2006/main">
            <a:r>
              <a:t>Fuentes:</a:t>
            </a:r>
            <a:endParaRPr/>
          </a:p>
          <a:p xmlns:a="http://schemas.openxmlformats.org/drawingml/2006/main">
            <a:r>
              <a:t>https://github.com/oscarnavmac/programacion_ai</a:t>
            </a:r>
            <a:endParaRPr/>
          </a:p>
          <a:p xmlns:a="http://schemas.openxmlformats.org/drawingml/2006/main">
            <a:r>
              <a:t>https://docs.google.com/document/d/1Fjxbb7GRZvFAjz2FfyG1PnTY2zgadKms/edit</a:t>
            </a:r>
            <a:endParaRPr/>
          </a:p>
          <a:p xmlns:a="http://schemas.openxmlformats.org/drawingml/2006/main">
            <a:r>
              <a:t>https://ingreso.uady.mx/posgrado/recursos/convocatorias/especificas/DoctoradoenCienciasMatematicas.pdf</a:t>
            </a:r>
            <a:endParaRPr/>
          </a:p>
          <a:p xmlns:a="http://schemas.openxmlformats.org/drawingml/2006/main">
            <a:r>
              <a:t>https://ingreso.uady.mx/posgrado/recursos/convocatorias/especificas/DoctoradoenCienciasMatematicas.pdf</a:t>
            </a:r>
            <a:endParaRPr/>
          </a:p>
          <a:p xmlns:a="http://schemas.openxmlformats.org/drawingml/2006/main">
            <a:r>
              <a:t>https://colab.research.google.com/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b9bb5969c343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19bc3a7e5b4a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315109efde45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e8cfcb6fdf4e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9e1ed22e414b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a9bbade4b649d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f5261f56ac949d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129515ecd348dc"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a93b711e934d95" /><Relationship Type="http://schemas.openxmlformats.org/officeDocument/2006/relationships/slideLayout" Target="/ppt/slideLayouts/slideLayout1.xml" Id="Re362f1b4a33845c6" /><Relationship Type="http://schemas.openxmlformats.org/officeDocument/2006/relationships/slideLayout" Target="/ppt/slideLayouts/slideLayout2.xml" Id="R48fd38ea4a724a0c" /><Relationship Type="http://schemas.openxmlformats.org/officeDocument/2006/relationships/slideLayout" Target="/ppt/slideLayouts/slideLayout3.xml" Id="R3a37e891bc944353" /><Relationship Type="http://schemas.openxmlformats.org/officeDocument/2006/relationships/slideLayout" Target="/ppt/slideLayouts/slideLayout4.xml" Id="Rcc69f7f6c27b47dc" /><Relationship Type="http://schemas.openxmlformats.org/officeDocument/2006/relationships/slideLayout" Target="/ppt/slideLayouts/slideLayout5.xml" Id="Raa22bc24b3c545a9" /><Relationship Type="http://schemas.openxmlformats.org/officeDocument/2006/relationships/slideLayout" Target="/ppt/slideLayouts/slideLayout6.xml" Id="R3eb277c04bc445eb" /><Relationship Type="http://schemas.openxmlformats.org/officeDocument/2006/relationships/slideLayout" Target="/ppt/slideLayouts/slideLayout7.xml" Id="R5c2874c5a0644862" /><Relationship Type="http://schemas.openxmlformats.org/officeDocument/2006/relationships/slideLayout" Target="/ppt/slideLayouts/slideLayout8.xml" Id="R319861e73c634e2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62f1b4a33845c6"/>
    <p:sldLayoutId xmlns:r="http://schemas.openxmlformats.org/officeDocument/2006/relationships" id="2147483650" r:id="R48fd38ea4a724a0c"/>
    <p:sldLayoutId xmlns:r="http://schemas.openxmlformats.org/officeDocument/2006/relationships" id="2147483651" r:id="R3a37e891bc944353"/>
    <p:sldLayoutId xmlns:r="http://schemas.openxmlformats.org/officeDocument/2006/relationships" id="2147483652" r:id="Rcc69f7f6c27b47dc"/>
    <p:sldLayoutId xmlns:r="http://schemas.openxmlformats.org/officeDocument/2006/relationships" id="2147483653" r:id="Raa22bc24b3c545a9"/>
    <p:sldLayoutId xmlns:r="http://schemas.openxmlformats.org/officeDocument/2006/relationships" id="2147483654" r:id="R3eb277c04bc445eb"/>
    <p:sldLayoutId xmlns:r="http://schemas.openxmlformats.org/officeDocument/2006/relationships" id="2147483655" r:id="R5c2874c5a0644862"/>
    <p:sldLayoutId xmlns:r="http://schemas.openxmlformats.org/officeDocument/2006/relationships" id="2147483656" r:id="R319861e73c634e2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f81d1e2cea42b1" /><Relationship Type="http://schemas.openxmlformats.org/officeDocument/2006/relationships/image" Target="/ppt/media/image.png" Id="Rdc2f5ac188594ee8" /><Relationship Type="http://schemas.openxmlformats.org/officeDocument/2006/relationships/image" Target="/ppt/media/image2.png" Id="R7c29fda71d0b4a3a" /><Relationship Type="http://schemas.openxmlformats.org/officeDocument/2006/relationships/notesSlide" Target="/ppt/notesSlides/notesSlide1.xml" Id="R404d37d7876c44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2cdb584bbc4a45" /><Relationship Type="http://schemas.openxmlformats.org/officeDocument/2006/relationships/notesSlide" Target="/ppt/notesSlides/notesSlide2.xml" Id="Red9e5a8017584a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bf0d2cd88149cf" /><Relationship Type="http://schemas.openxmlformats.org/officeDocument/2006/relationships/notesSlide" Target="/ppt/notesSlides/notesSlide3.xml" Id="Rb3607c0dc7dc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52b6d19d1e48f4" /><Relationship Type="http://schemas.openxmlformats.org/officeDocument/2006/relationships/notesSlide" Target="/ppt/notesSlides/notesSlide4.xml" Id="R3aff0dd437e64f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452c435bd444f3" /><Relationship Type="http://schemas.openxmlformats.org/officeDocument/2006/relationships/image" Target="/ppt/media/image3.png" Id="R6a08b8f7f07c4d8b" /><Relationship Type="http://schemas.openxmlformats.org/officeDocument/2006/relationships/image" Target="/ppt/media/image4.png" Id="Raefd284a73ef4601" /><Relationship Type="http://schemas.openxmlformats.org/officeDocument/2006/relationships/notesSlide" Target="/ppt/notesSlides/notesSlide5.xml" Id="R0ac1efdccf614a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839a786e784889" /><Relationship Type="http://schemas.openxmlformats.org/officeDocument/2006/relationships/image" Target="/ppt/media/image5.png" Id="Rc332ae0827344935" /><Relationship Type="http://schemas.openxmlformats.org/officeDocument/2006/relationships/image" Target="/ppt/media/image6.png" Id="Ref2c3664ea5b4f60" /><Relationship Type="http://schemas.openxmlformats.org/officeDocument/2006/relationships/notesSlide" Target="/ppt/notesSlides/notesSlide6.xml" Id="R81bf10e516cb4b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344723eb3f4d7a" /><Relationship Type="http://schemas.openxmlformats.org/officeDocument/2006/relationships/notesSlide" Target="/ppt/notesSlides/notesSlide7.xml" Id="R908813fc682847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c6f9085f20470a" /><Relationship Type="http://schemas.openxmlformats.org/officeDocument/2006/relationships/notesSlide" Target="/ppt/notesSlides/notesSlide8.xml" Id="Rba9829135b7249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451a5212874a97" /><Relationship Type="http://schemas.openxmlformats.org/officeDocument/2006/relationships/hyperlink" Target="https://github.com/oscarnavmac/programacion_ai" TargetMode="External" Id="R82205856b7204abd" /><Relationship Type="http://schemas.openxmlformats.org/officeDocument/2006/relationships/hyperlink" Target="https://github.com/oscarnavmac/programacion_ai" TargetMode="External" Id="R354504ecb282408a" /><Relationship Type="http://schemas.openxmlformats.org/officeDocument/2006/relationships/notesSlide" Target="/ppt/notesSlides/notesSlide9.xml" Id="R7c3baf96c45245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ac8d306c924af5" /><Relationship Type="http://schemas.openxmlformats.org/officeDocument/2006/relationships/notesSlide" Target="/ppt/notesSlides/notesSlide10.xml" Id="Rad574cbdcdf44f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636a6457604aba" /><Relationship Type="http://schemas.openxmlformats.org/officeDocument/2006/relationships/image" Target="/ppt/media/image7.png" Id="R6ef5d341fae2460d" /><Relationship Type="http://schemas.openxmlformats.org/officeDocument/2006/relationships/notesSlide" Target="/ppt/notesSlides/notesSlide11.xml" Id="Ra993a68e67764c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6fb627fc6e4b16" /><Relationship Type="http://schemas.openxmlformats.org/officeDocument/2006/relationships/notesSlide" Target="/ppt/notesSlides/notesSlide12.xml" Id="R909970e31f0d40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eba253a62c45a2" /><Relationship Type="http://schemas.openxmlformats.org/officeDocument/2006/relationships/notesSlide" Target="/ppt/notesSlides/notesSlide13.xml" Id="R2e0c8b747e9649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eb78beda8c7441e" /><Relationship Type="http://schemas.openxmlformats.org/officeDocument/2006/relationships/notesSlide" Target="/ppt/notesSlides/notesSlide14.xml" Id="Rfd6877f10c9d41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e913b8666a94be5" /><Relationship Type="http://schemas.openxmlformats.org/officeDocument/2006/relationships/notesSlide" Target="/ppt/notesSlides/notesSlide15.xml" Id="R01f30507a89c49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216a5e0f434ca3" /><Relationship Type="http://schemas.openxmlformats.org/officeDocument/2006/relationships/notesSlide" Target="/ppt/notesSlides/notesSlide16.xml" Id="R6f73f401cff74e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b7cf4d22704cae" /><Relationship Type="http://schemas.openxmlformats.org/officeDocument/2006/relationships/notesSlide" Target="/ppt/notesSlides/notesSlide17.xml" Id="Rd3e47ced548541c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ebc8a31f34547d1" /><Relationship Type="http://schemas.openxmlformats.org/officeDocument/2006/relationships/notesSlide" Target="/ppt/notesSlides/notesSlide18.xml" Id="R3deb6af0989d47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18700ea2624404a" /><Relationship Type="http://schemas.openxmlformats.org/officeDocument/2006/relationships/hyperlink" Target="https://colab.research.google.com/drive/1lIGBtdspVa3-QnzvU5l9DR3CyZIpRHGO?usp=sharing" TargetMode="External" Id="Rca47d02f9ad1405b" /><Relationship Type="http://schemas.openxmlformats.org/officeDocument/2006/relationships/hyperlink" Target="https://github.com/oscarnavmac/programacion_ai" TargetMode="External" Id="R9c5595307f484bdc" /><Relationship Type="http://schemas.openxmlformats.org/officeDocument/2006/relationships/image" Target="/ppt/media/image8.png" Id="R7aaed2df3d6f4506" /><Relationship Type="http://schemas.openxmlformats.org/officeDocument/2006/relationships/image" Target="/ppt/media/image9.png" Id="Rf8de47e1a31b4b00" /><Relationship Type="http://schemas.openxmlformats.org/officeDocument/2006/relationships/image" Target="/ppt/media/image10.png" Id="R99b637aafbde494a" /><Relationship Type="http://schemas.openxmlformats.org/officeDocument/2006/relationships/notesSlide" Target="/ppt/notesSlides/notesSlide19.xml" Id="Ree3891cf44314d3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6600" b="0">
                <a:solidFill>
                  <a:srgbClr val="000000"/>
                </a:solidFill>
                <a:latin typeface="Helvetica Neue"/>
                <a:ea typeface="Helvetica Neue"/>
                <a:cs typeface="Helvetica Neue"/>
              </a:defRPr>
            </a:pPr>
            <a:r>
              <a:rPr sz="6600" b="0">
                <a:solidFill>
                  <a:srgbClr val="000000"/>
                </a:solidFill>
                <a:latin typeface="Helvetica Neue"/>
                <a:ea typeface="Helvetica Neue"/>
                <a:cs typeface="Helvetica Neue"/>
              </a:rPr>
              <a:t>Programación para</a:t>
            </a:r>
          </a:p>
          <a:p xmlns:a="http://schemas.openxmlformats.org/drawingml/2006/main">
            <a:pPr marL="0" indent="0">
              <a:lnSpc>
                <a:spcPct val="110000"/>
              </a:lnSpc>
              <a:spcBef>
                <a:spcPts val="0"/>
              </a:spcBef>
              <a:spcAft>
                <a:spcPts val="300"/>
              </a:spcAft>
              <a:buNone/>
              <a:defRPr sz="6600" b="0">
                <a:solidFill>
                  <a:srgbClr val="000000"/>
                </a:solidFill>
                <a:latin typeface="Helvetica Neue"/>
                <a:ea typeface="Helvetica Neue"/>
                <a:cs typeface="Helvetica Neue"/>
              </a:defRPr>
            </a:pPr>
            <a:r>
              <a:rPr sz="6600" b="0">
                <a:solidFill>
                  <a:srgbClr val="000000"/>
                </a:solidFill>
                <a:latin typeface="Helvetica Neue"/>
                <a:ea typeface="Helvetica Neue"/>
                <a:cs typeface="Helvetica Neue"/>
              </a:rPr>
              <a:t>Inteligencia Artificial</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Primera clase</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Introducción a la asignatura y a Python</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668" y="1619250"/>
            <a:ext cx="8572500" cy="3810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Maestría en Inteligencia Artificial</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c2f5ac188594ee8"/>
          <a:stretch xmlns:a="http://schemas.openxmlformats.org/drawingml/2006/main"/>
        </p:blipFill>
        <p:spPr>
          <a:xfrm xmlns:a="http://schemas.openxmlformats.org/drawingml/2006/main">
            <a:off x="390525" y="239911"/>
            <a:ext cx="2095500" cy="1139428"/>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c29fda71d0b4a3a"/>
          <a:stretch xmlns:a="http://schemas.openxmlformats.org/drawingml/2006/main"/>
        </p:blipFill>
        <p:spPr>
          <a:xfrm xmlns:a="http://schemas.openxmlformats.org/drawingml/2006/main">
            <a:off x="8680283" y="238125"/>
            <a:ext cx="2737184" cy="1143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E2598689-54C9-18A7-3A19-ED76AA08988F}" type="slidenum">
              <a:rPr sz="1000" b="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El propósito de la asignatura</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Software para trabajar con datos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Construiremos programas que validen información, transformen datos y conecten componentes de un sistema de IA.</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Una solución que otra persona pueda usar</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El resultado será código funcional, con pruebas e instrucciones para instalarlo y ejecutarlo. El entrenamiento de modelos corresponde a asignaturas posteriores.</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202359C0-8A7A-196E-DD58-8E6569619F09}" type="slidenum">
              <a:rPr sz="1000" b="0">
                <a:solidFill>
                  <a:srgbClr val="000000"/>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El recorrido del curso</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Unidad 1 · Python moderno</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Fundamentos del lenguaje, contratos de datos y proyectos reproducibles.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Unidad 2 · Datos y representaciones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Arreglos, tablas, tensores y visualización de información.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Unidad 3 · Integración de componentes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Persistencia, consultas desde Python y flujos con estado.</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Cierre · Proyecto integrador</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Una solución local que combina lo aprendido y explica sus decisiones.</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EFD6AB9A-5F9E-5F59-51AB-3C8734130965}" type="slidenum">
              <a:rPr sz="1000" b="0">
                <a:solidFill>
                  <a:srgbClr val="000000"/>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Unidad 1 · Programación eficiente en Python para IA</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Fundamentos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Funciones, colecciones, decisiones, ciclos, excepciones y objetos.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Contratos de datos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Anotaciones de tipo y validación con Pydantic.</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Flujos y recursos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Iteradores, generadores y administradores de contexto.</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Reproducibilidad y calidad</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Proyectos con uv, revisión con Ruff y pruebas con pytest.</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EE5B3003-2C54-13C6-9832-7637201064DE}" type="slidenum">
              <a:rPr sz="1000" b="0">
                <a:solidFill>
                  <a:srgbClr val="000000"/>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Unidad 2 · Procesamiento y representación de datos para IA</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714625"/>
            <a:ext cx="5537168" cy="142875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NumPy</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Arreglos, ejes, operaciones vectorizadas y broadcasting.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714625"/>
            <a:ext cx="5537168" cy="142875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Pandas y datasets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Limpieza, combinación, faltantes y calidad de tablas.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668" y="4524375"/>
            <a:ext cx="5537168" cy="1619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Formatos y tensores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CSV, Parquet e interoperabilidad con tensores de PyTorch.</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592" y="4524375"/>
            <a:ext cx="5537168" cy="1619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Matplotlib</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Gráficas para explorar datos y justificar hallazgos.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a08b8f7f07c4d8b"/>
          <a:stretch xmlns:a="http://schemas.openxmlformats.org/drawingml/2006/main"/>
        </p:blipFill>
        <p:spPr>
          <a:xfrm xmlns:a="http://schemas.openxmlformats.org/drawingml/2006/main">
            <a:off x="1009650" y="1524000"/>
            <a:ext cx="952500" cy="9525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efd284a73ef4601"/>
          <a:stretch xmlns:a="http://schemas.openxmlformats.org/drawingml/2006/main"/>
        </p:blipFill>
        <p:spPr>
          <a:xfrm xmlns:a="http://schemas.openxmlformats.org/drawingml/2006/main">
            <a:off x="6257925" y="1528189"/>
            <a:ext cx="2333625" cy="944123"/>
          </a:xfrm>
          <a:prstGeom xmlns:a="http://schemas.openxmlformats.org/drawingml/2006/main" prst="rect">
            <a:avLst/>
          </a:prstGeom>
        </p:spPr>
      </p:pic>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8C630A04-5A25-9E0C-9436-126091DB86B3}" type="slidenum">
              <a:rPr sz="1000" b="0">
                <a:solidFill>
                  <a:srgbClr val="000000"/>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Unidad 3 · Integración de componentes para sistemas de IA</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714625"/>
            <a:ext cx="5537168" cy="142875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PostgreSQL</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Tablas, consultas y persistencia relacional desde Python.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714625"/>
            <a:ext cx="5537168" cy="142875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Neo4j</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Entidades y relaciones como grafos, con consultas Cypher.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668" y="4524375"/>
            <a:ext cx="5537168" cy="1619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Interfaces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Responsabilidades y contratos entre componentes. FastAPI como extensión opcional.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592" y="4524375"/>
            <a:ext cx="5537168" cy="16192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Orquestación</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Estado, transiciones y manejo de fallos con LangGraph o LangChain.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332ae0827344935"/>
          <a:stretch xmlns:a="http://schemas.openxmlformats.org/drawingml/2006/main"/>
        </p:blipFill>
        <p:spPr>
          <a:xfrm xmlns:a="http://schemas.openxmlformats.org/drawingml/2006/main">
            <a:off x="1024185" y="1524000"/>
            <a:ext cx="923429" cy="9525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f2c3664ea5b4f60"/>
          <a:stretch xmlns:a="http://schemas.openxmlformats.org/drawingml/2006/main"/>
        </p:blipFill>
        <p:spPr>
          <a:xfrm xmlns:a="http://schemas.openxmlformats.org/drawingml/2006/main">
            <a:off x="6257925" y="1583000"/>
            <a:ext cx="2333625" cy="834500"/>
          </a:xfrm>
          <a:prstGeom xmlns:a="http://schemas.openxmlformats.org/drawingml/2006/main" prst="rect">
            <a:avLst/>
          </a:prstGeom>
        </p:spPr>
      </p:pic>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D3D7D1C8-AE23-AA48-DF65-C742588DBE47}" type="slidenum">
              <a:rPr sz="1000" b="0">
                <a:solidFill>
                  <a:srgbClr val="000000"/>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El proyecto integrador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Primer avance</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Un problema acotado y datos con procedencia clara.</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Procesamiento funcional y una primera escritura y consulta en la base de datos elegida.</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Entrega final</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Persistencia y un flujo de componentes con estado y fallos visibles.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Pruebas, documentación y una demostración que sustente las decisiones.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BA58DA2A-B818-18A9-29C1-B697728D5BCE}" type="slidenum">
              <a:rPr sz="1000" b="0">
                <a:solidFill>
                  <a:srgbClr val="000000"/>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Evaluación del aprendizaje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25 % · Unidad 1</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Ejercicios de Python moderno, validación y calidad.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30 % · Unidad 2</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Proyecto de procesamiento y representación de datos.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20 % · Unidad 3</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Proyecto de integración y orquestación.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25 % · Proyecto final</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Integración, documentación y presentación.</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388657AE-30A1-5A7A-6A7F-315D84436430}" type="slidenum">
              <a:rPr sz="1000" b="0">
                <a:solidFill>
                  <a:srgbClr val="000000"/>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Materiales y forma de trabajo</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Repositorio del curso</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hlinkClick xmlns:r="http://schemas.openxmlformats.org/officeDocument/2006/relationships" r:id="R82205856b7204abd"/>
              </a:rPr>
              <a:t>github.com/oscarnavmac/</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hlinkClick xmlns:r="http://schemas.openxmlformats.org/officeDocument/2006/relationships" r:id="R354504ecb282408a"/>
              </a:rPr>
              <a:t>programacion_ai</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Los README organizan las unidades y contienen los enlaces de Google Colab.</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Durante el taller</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Predecir, ejecutar, explicar y modificar.</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Notebook 1: fundamentos de Python.</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Notebook 2: las 19 reglas del Zen.</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Las soluciones están en Markdown para consultarlas después del intento.</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DB7BEEEC-A170-5376-2B6E-CB54687B0CB1}" type="slidenum">
              <a:rPr sz="1000" b="0">
                <a:solidFill>
                  <a:srgbClr val="000000"/>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Qué significa programar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Una tarea expresada con reglas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Identificar qué datos entran, qué operaciones se aplican y qué salida esperamos.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La computadora ejecuta las instrucciones que escribimos.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Ejemplo: resumir mediciones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Entrada: 20, 24 y 22 grados.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Operación: sumar y dividir entre tres.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Salida: 22 grados.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También debemos decidir qué hacer si faltan datos.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30394428-F1DC-E5F6-DB0C-7DE31F3D8A23}" type="slidenum">
              <a:rPr sz="1000" b="0">
                <a:solidFill>
                  <a:srgbClr val="000000"/>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Qué es Python</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6ef5d341fae2460d"/>
          <a:stretch xmlns:a="http://schemas.openxmlformats.org/drawingml/2006/main"/>
        </p:blipFill>
        <p:spPr>
          <a:xfrm xmlns:a="http://schemas.openxmlformats.org/drawingml/2006/main">
            <a:off x="6269040" y="2261864"/>
            <a:ext cx="5539740" cy="1871160"/>
          </a:xfrm>
          <a:prstGeom xmlns:a="http://schemas.openxmlformats.org/drawingml/2006/main" prst="roundRect">
            <a:avLst>
              <a:gd name="adj" fmla="val 1361"/>
            </a:avLst>
          </a:prstGeom>
        </p:spPr>
      </p:pic>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 lenguaje de propósito general</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Su sintaxis permite expresar operaciones sobre números, texto y colecciones.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Un intérprete ejecuta el código. Python ofrece una biblioteca estándar y permite instalar bibliotecas adicionales.</a:t>
            </a:r>
          </a:p>
        </p:txBody>
      </p:sp>
    </p:spTree>
    <p:extLst>
      <p:ext uri="{BB962C8B-B14F-4D97-AF65-F5344CB8AC3E}">
        <p14:creationId xmlns:p14="http://schemas.microsoft.com/office/powerpoint/2010/main" val="32456707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4DB16885-0D3F-A391-B669-3211DB3B26E8}" type="slidenum">
              <a:rPr sz="1000" b="0">
                <a:solidFill>
                  <a:srgbClr val="000000"/>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Por qué se usa Python en IA</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Código fácil de explorar</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Las estructuras del lenguaje ayudan a expresar transformaciones y probar ideas.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Bibliotecas especializadas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El ecosistema ofrece herramientas para cálculo numérico, datos y modelos.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Conexión con otros componentes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Python puede leer archivos, consultar bases de datos y coordinar servicios.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Cálculo optimizado</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Bibliotecas como NumPy delegan muchas operaciones a código compilado.</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2DD23107-4986-8758-3A93-3D74F35908CC}" type="slidenum">
              <a:rPr sz="1000" b="0">
                <a:solidFill>
                  <a:srgbClr val="000000"/>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Python y sus bibliotecas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El lenguaje y la biblioteca estándar</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Variables, funciones y ciclos pertenecen al lenguaje.</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Herramientas como math y collections vienen con Python.</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Hoy nos bastan esos recursos.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Bibliotecas que conoceremos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NumPy: arreglos numéricos.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Pandas: tablas y transformaciones.</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PyTorch: tensores en este curso.</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Matplotlib: visualización.</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Una biblioteca agrega herramientas al lenguaje.</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327921A4-25C4-3DB4-06B1-32693CEE2241}" type="slidenum">
              <a:rPr sz="1000" b="0">
                <a:solidFill>
                  <a:srgbClr val="000000"/>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Un primer programa</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Código Python</a:t>
            </a:r>
          </a:p>
          <a:p xmlns:a="http://schemas.openxmlformats.org/drawingml/2006/main">
            <a:pPr marL="0" indent="0">
              <a:lnSpc>
                <a:spcPct val="110000"/>
              </a:lnSpc>
              <a:spcBef>
                <a:spcPts val="0"/>
              </a:spcBef>
              <a:spcAft>
                <a:spcPts val="300"/>
              </a:spcAft>
              <a:buNone/>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temperaturas = [20, 24, 22]</a:t>
            </a:r>
          </a:p>
          <a:p xmlns:a="http://schemas.openxmlformats.org/drawingml/2006/main">
            <a:pPr marL="0" indent="0">
              <a:lnSpc>
                <a:spcPct val="110000"/>
              </a:lnSpc>
              <a:spcBef>
                <a:spcPts val="0"/>
              </a:spcBef>
              <a:spcAft>
                <a:spcPts val="300"/>
              </a:spcAft>
              <a:buNone/>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promedio = (</a:t>
            </a:r>
          </a:p>
          <a:p xmlns:a="http://schemas.openxmlformats.org/drawingml/2006/main">
            <a:pPr marL="0" indent="0">
              <a:lnSpc>
                <a:spcPct val="110000"/>
              </a:lnSpc>
              <a:spcBef>
                <a:spcPts val="0"/>
              </a:spcBef>
              <a:spcAft>
                <a:spcPts val="300"/>
              </a:spcAft>
              <a:buNone/>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sum(temperaturas) / len(temperaturas)</a:t>
            </a:r>
          </a:p>
          <a:p xmlns:a="http://schemas.openxmlformats.org/drawingml/2006/main">
            <a:pPr marL="0" indent="0">
              <a:lnSpc>
                <a:spcPct val="110000"/>
              </a:lnSpc>
              <a:spcBef>
                <a:spcPts val="0"/>
              </a:spcBef>
              <a:spcAft>
                <a:spcPts val="300"/>
              </a:spcAft>
              <a:buNone/>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a:t>
            </a:r>
          </a:p>
          <a:p xmlns:a="http://schemas.openxmlformats.org/drawingml/2006/main">
            <a:pPr marL="0" indent="0">
              <a:lnSpc>
                <a:spcPct val="110000"/>
              </a:lnSpc>
              <a:spcBef>
                <a:spcPts val="0"/>
              </a:spcBef>
              <a:spcAft>
                <a:spcPts val="300"/>
              </a:spcAft>
              <a:buNone/>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print(promedio)</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Cómo leerlo</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La lista reúne tres mediciones.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La segunda línea calcula el promedio y le asigna un nombre.</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print muestra 22.0.</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EA83FA91-883A-0168-8075-96CEB9DCA3C2}" type="slidenum">
              <a:rPr sz="1000" b="0">
                <a:solidFill>
                  <a:srgbClr val="000000"/>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Una notebook combina texto y código</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Celdas Markdown</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Contienen explicaciones, preguntas y fragmentos de código para leer.</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Un snippet dentro de Markdown no se ejecuta como una celda de código.</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Celdas de código</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Se ejecutan en una sesión de Python y pueden mostrar resultados.</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La sesión conserva variables. El orden en que ejecutamos las celdas afecta al resultado.</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DC9C7607-4BA3-B4DC-A00F-2E67A9FCFF7E}" type="slidenum">
              <a:rPr sz="1000" b="0">
                <a:solidFill>
                  <a:srgbClr val="000000"/>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La sesión de Python tiene memoria</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Dos celdas, una misma sesión</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Celda A</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x = 10</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Celda B</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print(x + 1)</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Después de ejecutar A, B muestra 11.</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 orden reproducible</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Si la sesión es nueva y ejecutas B primero, falta el nombre x.</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Reiniciar y ejecutar desde arriba permite comprobar que el resultado no depende de pasos ocultos.</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90F7333B-44AC-F7E9-D49D-FE92F45E0477}" type="slidenum">
              <a:rPr sz="1000" b="0">
                <a:solidFill>
                  <a:srgbClr val="000000"/>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Lo que practicaremos hoy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Representar datos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Números, cadenas, listas, diccionarios y otras colecciones.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Transformar información</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Funciones, decisiones, ciclos y comprensiones.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Detectar problemas</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Entradas inválidas, excepciones y comprobaciones con assert.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Conservar estado</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Clases e instancias con un registro de predicciones como caso integrador.</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pPr marL="0" indent="0">
              <a:lnSpc>
                <a:spcPct val="110000"/>
              </a:lnSpc>
              <a:spcBef>
                <a:spcPts val="0"/>
              </a:spcBef>
              <a:spcAft>
                <a:spcPts val="300"/>
              </a:spcAft>
              <a:buNone/>
            </a:pP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nSpc>
                <a:spcPct val="110000"/>
              </a:lnSpc>
              <a:spcBef>
                <a:spcPts val="0"/>
              </a:spcBef>
              <a:spcAft>
                <a:spcPts val="300"/>
              </a:spcAft>
              <a:buNone/>
              <a:defRPr sz="1000" b="0">
                <a:solidFill>
                  <a:srgbClr val="000000"/>
                </a:solidFill>
                <a:latin typeface="Helvetica Neue"/>
                <a:ea typeface="Helvetica Neue"/>
                <a:cs typeface="Helvetica Neue"/>
              </a:defRPr>
            </a:pPr>
            <a:fld id="{B1C6C81E-38B9-7560-621D-5A151A79DF9B}" type="slidenum">
              <a:rPr sz="1000" b="0">
                <a:solidFill>
                  <a:srgbClr val="000000"/>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300"/>
              </a:spcAft>
              <a:buNone/>
              <a:defRPr sz="2900" b="0">
                <a:solidFill>
                  <a:srgbClr val="000000"/>
                </a:solidFill>
                <a:latin typeface="Helvetica Neue"/>
                <a:ea typeface="Helvetica Neue"/>
                <a:cs typeface="Helvetica Neue"/>
              </a:defRPr>
            </a:pPr>
            <a:r>
              <a:rPr sz="2900" b="0">
                <a:solidFill>
                  <a:srgbClr val="000000"/>
                </a:solidFill>
                <a:latin typeface="Helvetica Neue"/>
                <a:ea typeface="Helvetica Neue"/>
                <a:cs typeface="Helvetica Neue"/>
              </a:rPr>
              <a:t>Antes de abrir el taller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Dos preguntas para el grupo</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¿Qué diferencia hay entre tener un valor cero y no tener un dato?</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¿Qué debería hacer un programa cuando recibe texto donde esperaba un número?</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0000"/>
              </a:lnSpc>
              <a:spcBef>
                <a:spcPts val="0"/>
              </a:spcBef>
              <a:spcAft>
                <a:spcPts val="1400"/>
              </a:spcAft>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Nuestra forma de aprender</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Primero una predicción, luego la ejecución.</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Un error ofrece información para revisar el programa.</a:t>
            </a:r>
          </a:p>
          <a:p xmlns:a="http://schemas.openxmlformats.org/drawingml/2006/main">
            <a:pPr marL="0" indent="0">
              <a:lnSpc>
                <a:spcPct val="110000"/>
              </a:lnSpc>
              <a:spcBef>
                <a:spcPts val="0"/>
              </a:spcBef>
              <a:spcAft>
                <a:spcPts val="300"/>
              </a:spcAft>
              <a:buNone/>
            </a:pPr>
            <a:r>
              <a:rPr sz="1950">
                <a:latin typeface="Helvetica Neue"/>
                <a:ea typeface="Helvetica Neue"/>
                <a:cs typeface="Helvetica Neue"/>
              </a:rPr>
              <a:t/>
            </a:r>
          </a:p>
          <a:p xmlns:a="http://schemas.openxmlformats.org/drawingml/2006/main">
            <a:pPr marL="0" indent="0">
              <a:lnSpc>
                <a:spcPct val="110000"/>
              </a:lnSpc>
              <a:spcBef>
                <a:spcPts val="0"/>
              </a:spcBef>
              <a:spcAft>
                <a:spcPts val="300"/>
              </a:spcAft>
              <a:buNone/>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Explicar una solución importa tanto como obtener una salida.</a:t>
            </a:r>
          </a:p>
        </p:txBody>
      </p:sp>
    </p:spTree>
    <p:extLst>
      <p:ext uri="{BB962C8B-B14F-4D97-AF65-F5344CB8AC3E}">
        <p14:creationId xmlns:p14="http://schemas.microsoft.com/office/powerpoint/2010/main" val="36671821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5700" b="0">
                <a:solidFill>
                  <a:srgbClr val="000000"/>
                </a:solidFill>
                <a:latin typeface="Helvetica Neue"/>
                <a:ea typeface="Helvetica Neue"/>
                <a:cs typeface="Helvetica Neue"/>
              </a:defRPr>
            </a:pPr>
            <a:r>
              <a:rPr sz="5700" b="0">
                <a:solidFill>
                  <a:srgbClr val="000000"/>
                </a:solidFill>
                <a:latin typeface="Helvetica Neue"/>
                <a:ea typeface="Helvetica Neue"/>
                <a:cs typeface="Helvetica Neue"/>
              </a:rPr>
              <a:t>Notebook 1</a:t>
            </a:r>
          </a:p>
          <a:p xmlns:a="http://schemas.openxmlformats.org/drawingml/2006/main">
            <a:pPr marL="0" indent="0">
              <a:lnSpc>
                <a:spcPct val="110000"/>
              </a:lnSpc>
              <a:spcBef>
                <a:spcPts val="0"/>
              </a:spcBef>
              <a:spcAft>
                <a:spcPts val="300"/>
              </a:spcAft>
              <a:buNone/>
              <a:defRPr sz="5700" b="0">
                <a:solidFill>
                  <a:srgbClr val="000000"/>
                </a:solidFill>
                <a:latin typeface="Helvetica Neue"/>
                <a:ea typeface="Helvetica Neue"/>
                <a:cs typeface="Helvetica Neue"/>
              </a:defRPr>
            </a:pPr>
            <a:r>
              <a:rPr sz="5700" b="0">
                <a:solidFill>
                  <a:srgbClr val="000000"/>
                </a:solidFill>
                <a:latin typeface="Helvetica Neue"/>
                <a:ea typeface="Helvetica Neue"/>
                <a:cs typeface="Helvetica Neue"/>
              </a:rPr>
              <a:t>Curso acelerado de Python</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668" y="4857750"/>
            <a:ext cx="6667500" cy="1143000"/>
          </a:xfrm>
        </p:spPr>
        <p:txBody>
          <a:bodyPr xmlns:a="http://schemas.openxmlformats.org/drawingml/2006/main"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hlinkClick xmlns:r="http://schemas.openxmlformats.org/officeDocument/2006/relationships" r:id="Rca47d02f9ad1405b"/>
              </a:rPr>
              <a:t>Abrir en Google Colab</a:t>
            </a:r>
          </a:p>
          <a:p xmlns:a="http://schemas.openxmlformats.org/drawingml/2006/main">
            <a:pPr marL="0" indent="0">
              <a:lnSpc>
                <a:spcPct val="110000"/>
              </a:lnSpc>
              <a:spcBef>
                <a:spcPts val="0"/>
              </a:spcBef>
              <a:spcAft>
                <a:spcPts val="300"/>
              </a:spcAft>
              <a:buNone/>
            </a:pPr>
            <a:r>
              <a:rPr sz="2000"/>
              <a:t/>
            </a:r>
          </a:p>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hlinkClick xmlns:r="http://schemas.openxmlformats.org/officeDocument/2006/relationships" r:id="R9c5595307f484bdc"/>
              </a:rPr>
              <a:t>Repositorio y guía de materiales</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668" y="1619250"/>
            <a:ext cx="8572500" cy="3810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marL="0" indent="0">
              <a:lnSpc>
                <a:spcPct val="110000"/>
              </a:lnSpc>
              <a:spcBef>
                <a:spcPts val="0"/>
              </a:spcBef>
              <a:spcAft>
                <a:spcPts val="300"/>
              </a:spcAft>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Primera práctica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aed2df3d6f4506"/>
          <a:stretch xmlns:a="http://schemas.openxmlformats.org/drawingml/2006/main"/>
        </p:blipFill>
        <p:spPr>
          <a:xfrm xmlns:a="http://schemas.openxmlformats.org/drawingml/2006/main">
            <a:off x="390525" y="239911"/>
            <a:ext cx="2095500" cy="1139428"/>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8de47e1a31b4b00"/>
          <a:stretch xmlns:a="http://schemas.openxmlformats.org/drawingml/2006/main"/>
        </p:blipFill>
        <p:spPr>
          <a:xfrm xmlns:a="http://schemas.openxmlformats.org/drawingml/2006/main">
            <a:off x="8680283" y="238125"/>
            <a:ext cx="2737184" cy="1143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b637aafbde494a"/>
          <a:stretch xmlns:a="http://schemas.openxmlformats.org/drawingml/2006/main"/>
        </p:blipFill>
        <p:spPr>
          <a:xfrm xmlns:a="http://schemas.openxmlformats.org/drawingml/2006/main">
            <a:off x="9715500" y="4524375"/>
            <a:ext cx="1571625" cy="1571625"/>
          </a:xfrm>
          <a:prstGeom xmlns:a="http://schemas.openxmlformats.org/drawingml/2006/main" prst="rect">
            <a:avLst/>
          </a:prstGeom>
        </p:spPr>
      </p:pic>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2026-09-07T15:59:51.1240000Z</dcterms:created>
  <dcterms:modified xsi:type="dcterms:W3CDTF">2026-09-07T15:59:51.1240000Z</dcterms:modified>
</coreProperties>
</file>